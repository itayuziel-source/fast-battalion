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8"/>
  </p:notesMasterIdLst>
  <p:sldIdLst>
    <p:sldId id="272" r:id="rId2"/>
    <p:sldId id="257" r:id="rId3"/>
    <p:sldId id="275" r:id="rId4"/>
    <p:sldId id="256" r:id="rId5"/>
    <p:sldId id="271" r:id="rId6"/>
    <p:sldId id="274" r:id="rId7"/>
  </p:sldIdLst>
  <p:sldSz cx="12192000" cy="6858000"/>
  <p:notesSz cx="6858000" cy="99456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441" autoAdjust="0"/>
    <p:restoredTop sz="95020" autoAdjust="0"/>
  </p:normalViewPr>
  <p:slideViewPr>
    <p:cSldViewPr snapToGrid="0" snapToObjects="1">
      <p:cViewPr varScale="1">
        <p:scale>
          <a:sx n="78" d="100"/>
          <a:sy n="78" d="100"/>
        </p:scale>
        <p:origin x="11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3644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0855" tIns="45427" rIns="90855" bIns="45427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0855" tIns="45427" rIns="90855" bIns="45427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0855" tIns="45427" rIns="90855" bIns="45427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0855" tIns="45427" rIns="90855" bIns="45427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0855" tIns="45427" rIns="90855" bIns="45427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0855" tIns="45427" rIns="90855" bIns="45427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0855" tIns="45427" rIns="90855" bIns="45427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0855" tIns="45427" rIns="90855" bIns="45427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package" Target="../embeddings/Microsoft_Excel_Worksheet.xlsx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eft 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Brigade shiel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3800" y="1422400"/>
            <a:ext cx="458200" cy="641350"/>
          </a:xfrm>
          <a:prstGeom prst="rect">
            <a:avLst/>
          </a:prstGeom>
        </p:spPr>
      </p:pic>
      <p:sp>
        <p:nvSpPr>
          <p:cNvPr id="4" name="Unit line"/>
          <p:cNvSpPr txBox="1"/>
          <p:nvPr/>
        </p:nvSpPr>
        <p:spPr>
          <a:xfrm>
            <a:off x="7538800" y="1543050"/>
            <a:ext cx="3520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600" b="1" dirty="0">
                <a:solidFill>
                  <a:srgbClr val="F2F1EE"/>
                </a:solidFill>
                <a:latin typeface="Arial" pitchFamily="34" charset="0"/>
                <a:cs typeface="Arial" pitchFamily="34" charset="-120"/>
              </a:rPr>
              <a:t>‏גדוד 28 </a:t>
            </a:r>
            <a:r>
              <a:rPr lang="he-IL" sz="1600" b="1" dirty="0">
                <a:solidFill>
                  <a:srgbClr val="A32026"/>
                </a:solidFill>
                <a:latin typeface="Arial" pitchFamily="34" charset="0"/>
                <a:cs typeface="Arial" pitchFamily="34" charset="-120"/>
              </a:rPr>
              <a:t>| </a:t>
            </a:r>
            <a:r>
              <a:rPr lang="he-IL" sz="1600" dirty="0">
                <a:solidFill>
                  <a:srgbClr val="9A9AA0"/>
                </a:solidFill>
                <a:latin typeface="Arial" pitchFamily="34" charset="0"/>
                <a:cs typeface="Arial" pitchFamily="34" charset="-120"/>
              </a:rPr>
              <a:t>חטיבה 55</a:t>
            </a:r>
            <a:endParaRPr lang="he-IL" sz="1600" dirty="0"/>
          </a:p>
        </p:txBody>
      </p:sp>
      <p:sp>
        <p:nvSpPr>
          <p:cNvPr id="5" name="Title"/>
          <p:cNvSpPr txBox="1"/>
          <p:nvPr/>
        </p:nvSpPr>
        <p:spPr>
          <a:xfrm>
            <a:off x="4332000" y="2400300"/>
            <a:ext cx="7250000" cy="1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98000"/>
              </a:lnSpc>
              <a:buNone/>
            </a:pPr>
            <a:r>
              <a:rPr lang="he-IL" sz="5200" b="1" dirty="0">
                <a:solidFill>
                  <a:srgbClr val="F2F1EE"/>
                </a:solidFill>
                <a:latin typeface="Arial" pitchFamily="34" charset="0"/>
                <a:cs typeface="Arial" pitchFamily="34" charset="-120"/>
              </a:rPr>
              <a:t>‏אישור תוכניות מח"ט </a:t>
            </a:r>
          </a:p>
          <a:p>
            <a:pPr marL="0" indent="0" algn="r" rtl="1">
              <a:lnSpc>
                <a:spcPct val="98000"/>
              </a:lnSpc>
              <a:buNone/>
            </a:pPr>
            <a:r>
              <a:rPr lang="he-IL" sz="5200" b="1" dirty="0">
                <a:solidFill>
                  <a:srgbClr val="F2F1EE"/>
                </a:solidFill>
                <a:latin typeface="Arial" pitchFamily="34" charset="0"/>
                <a:cs typeface="Arial" pitchFamily="34" charset="-120"/>
              </a:rPr>
              <a:t>‏</a:t>
            </a:r>
            <a:r>
              <a:rPr lang="he-IL" sz="5200" b="1" dirty="0" err="1">
                <a:solidFill>
                  <a:srgbClr val="F2F1EE"/>
                </a:solidFill>
                <a:latin typeface="Arial" pitchFamily="34" charset="0"/>
                <a:cs typeface="Arial" pitchFamily="34" charset="-120"/>
              </a:rPr>
              <a:t>תע"מ</a:t>
            </a:r>
            <a:r>
              <a:rPr lang="he-IL" sz="5200" b="1" dirty="0">
                <a:solidFill>
                  <a:srgbClr val="F2F1EE"/>
                </a:solidFill>
                <a:latin typeface="Arial" pitchFamily="34" charset="0"/>
                <a:cs typeface="Arial" pitchFamily="34" charset="-120"/>
              </a:rPr>
              <a:t> לבנון</a:t>
            </a:r>
            <a:endParaRPr lang="he-IL" sz="5200" dirty="0"/>
          </a:p>
        </p:txBody>
      </p:sp>
      <p:sp>
        <p:nvSpPr>
          <p:cNvPr id="6" name="Title underline"/>
          <p:cNvSpPr/>
          <p:nvPr/>
        </p:nvSpPr>
        <p:spPr>
          <a:xfrm>
            <a:off x="10782000" y="4210050"/>
            <a:ext cx="800000" cy="45720"/>
          </a:xfrm>
          <a:prstGeom prst="rect">
            <a:avLst/>
          </a:prstGeom>
          <a:solidFill>
            <a:srgbClr val="A3202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Subtitle"/>
          <p:cNvSpPr txBox="1"/>
          <p:nvPr/>
        </p:nvSpPr>
        <p:spPr>
          <a:xfrm>
            <a:off x="4332000" y="4419600"/>
            <a:ext cx="7250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sz="1500" dirty="0">
                <a:solidFill>
                  <a:srgbClr val="9A9AA0"/>
                </a:solidFill>
                <a:latin typeface="Arial" pitchFamily="34" charset="0"/>
                <a:cs typeface="Arial" pitchFamily="34" charset="-120"/>
              </a:rPr>
              <a:t>‏נגזרת מפקודת חטיבה 55 | ע"פ פורמט חטיבתי</a:t>
            </a:r>
            <a:endParaRPr lang="he-IL" sz="1500" dirty="0"/>
          </a:p>
        </p:txBody>
      </p:sp>
      <p:sp>
        <p:nvSpPr>
          <p:cNvPr id="8" name="Callout bar"/>
          <p:cNvSpPr/>
          <p:nvPr/>
        </p:nvSpPr>
        <p:spPr>
          <a:xfrm>
            <a:off x="11544000" y="4914900"/>
            <a:ext cx="38100" cy="800100"/>
          </a:xfrm>
          <a:prstGeom prst="rect">
            <a:avLst/>
          </a:prstGeom>
          <a:solidFill>
            <a:srgbClr val="A3202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Callout text"/>
          <p:cNvSpPr txBox="1"/>
          <p:nvPr/>
        </p:nvSpPr>
        <p:spPr>
          <a:xfrm>
            <a:off x="4332000" y="4919980"/>
            <a:ext cx="7092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600"/>
              </a:spcAft>
              <a:buNone/>
            </a:pPr>
            <a:r>
              <a:rPr lang="he-IL" sz="1600" b="1" dirty="0">
                <a:solidFill>
                  <a:srgbClr val="F2F1EE"/>
                </a:solidFill>
                <a:latin typeface="Arial" pitchFamily="34" charset="0"/>
                <a:cs typeface="Arial" pitchFamily="34" charset="-120"/>
              </a:rPr>
              <a:t>‏הצגה לאישור חטיבה:‏ 20.9.26 | </a:t>
            </a:r>
          </a:p>
          <a:p>
            <a:pPr marL="0" indent="0" algn="r" rtl="1">
              <a:spcAft>
                <a:spcPts val="600"/>
              </a:spcAft>
              <a:buNone/>
            </a:pPr>
            <a:r>
              <a:rPr lang="he-IL" sz="1300" dirty="0">
                <a:solidFill>
                  <a:srgbClr val="9A9AA0"/>
                </a:solidFill>
                <a:latin typeface="Arial" pitchFamily="34" charset="0"/>
                <a:cs typeface="Arial" pitchFamily="34" charset="-120"/>
              </a:rPr>
              <a:t>‏משתתפים ברמת הגדוד:‏ מג"ד ,</a:t>
            </a:r>
            <a:r>
              <a:rPr lang="he-IL" sz="1300" dirty="0" err="1">
                <a:solidFill>
                  <a:srgbClr val="9A9AA0"/>
                </a:solidFill>
                <a:latin typeface="Arial" pitchFamily="34" charset="0"/>
                <a:cs typeface="Arial" pitchFamily="34" charset="-120"/>
              </a:rPr>
              <a:t>מפ"מ</a:t>
            </a:r>
            <a:r>
              <a:rPr lang="he-IL" sz="1300" dirty="0">
                <a:solidFill>
                  <a:srgbClr val="9A9AA0"/>
                </a:solidFill>
                <a:latin typeface="Arial" pitchFamily="34" charset="0"/>
                <a:cs typeface="Arial" pitchFamily="34" charset="-120"/>
              </a:rPr>
              <a:t> </a:t>
            </a:r>
            <a:endParaRPr lang="he-IL" sz="1300" dirty="0"/>
          </a:p>
        </p:txBody>
      </p:sp>
      <p:sp>
        <p:nvSpPr>
          <p:cNvPr id="10" name="Footer"/>
          <p:cNvSpPr txBox="1"/>
          <p:nvPr/>
        </p:nvSpPr>
        <p:spPr>
          <a:xfrm>
            <a:off x="6482000" y="6396990"/>
            <a:ext cx="51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050" dirty="0">
                <a:solidFill>
                  <a:srgbClr val="8A8A90"/>
                </a:solidFill>
                <a:latin typeface="Arial" pitchFamily="34" charset="0"/>
                <a:cs typeface="Arial" pitchFamily="34" charset="-120"/>
              </a:rPr>
              <a:t>‏בלמ"ס | טיוטה לאישור מפקד הגדוד</a:t>
            </a:r>
            <a:endParaRPr lang="he-IL" sz="1050" dirty="0"/>
          </a:p>
        </p:txBody>
      </p:sp>
      <p:sp>
        <p:nvSpPr>
          <p:cNvPr id="11" name="Panel slogan"/>
          <p:cNvSpPr txBox="1"/>
          <p:nvPr/>
        </p:nvSpPr>
        <p:spPr>
          <a:xfrm>
            <a:off x="850000" y="4500000"/>
            <a:ext cx="220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spcAft>
                <a:spcPts val="300"/>
              </a:spcAft>
              <a:buNone/>
            </a:pPr>
            <a:r>
              <a:rPr lang="he-IL" sz="21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‏אין תירוצים!</a:t>
            </a:r>
          </a:p>
          <a:p>
            <a:pPr marL="0" indent="0" algn="ctr" rtl="1">
              <a:buNone/>
            </a:pPr>
            <a:r>
              <a:rPr lang="he-IL" sz="15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‏גדוד 28, חטיבה 55</a:t>
            </a:r>
            <a:endParaRPr lang="he-IL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20040"/>
            <a:ext cx="566928" cy="566928"/>
          </a:xfrm>
          <a:prstGeom prst="rect">
            <a:avLst/>
          </a:prstGeom>
          <a:solidFill>
            <a:srgbClr val="9B1B1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 txBox="1"/>
          <p:nvPr/>
        </p:nvSpPr>
        <p:spPr>
          <a:xfrm>
            <a:off x="11137392" y="320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0405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‏פוש מאמצים - </a:t>
            </a:r>
            <a:r>
              <a:rPr lang="he-IL" sz="3000" b="1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ירידה</a:t>
            </a:r>
            <a:r>
              <a:rPr lang="en-US" sz="3000" b="1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מהקו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90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‏גדוד 28 | תוכנית ירידה מתע"מ לבנון | בלמ"ס</a:t>
            </a:r>
            <a:endParaRPr lang="en-US" sz="900" dirty="0"/>
          </a:p>
        </p:txBody>
      </p:sp>
      <p:pic>
        <p:nvPicPr>
          <p:cNvPr id="7" name="Image 0" descr="/tmp/claude-0/-home-user-fast-battalion/27bfe9ab-8bf6-55dd-87d9-f6bc8892020b/scratchpa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37160"/>
            <a:ext cx="474329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537192" y="1463040"/>
            <a:ext cx="2011680" cy="4160520"/>
          </a:xfrm>
          <a:prstGeom prst="roundRect">
            <a:avLst>
              <a:gd name="adj" fmla="val 155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Shape 6"/>
          <p:cNvSpPr/>
          <p:nvPr/>
        </p:nvSpPr>
        <p:spPr>
          <a:xfrm>
            <a:off x="9674352" y="1627632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9B1B1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 txBox="1"/>
          <p:nvPr/>
        </p:nvSpPr>
        <p:spPr>
          <a:xfrm>
            <a:off x="9674352" y="16276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he-IL" sz="13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שלב א' 13-19.9 בוצע 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646920" y="2103120"/>
            <a:ext cx="17922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זיכוי סבב אחרון בתע"מ 15-16.9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הורדת 10 מכולות ב-17.9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הורדת סבלי חי"ר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הורדת 6 האמרים (2 במנוף של 71)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דילול אמצעים ותחמושת נפיצה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הכנת אמצעים לזיכוי הימ"ח - ליפקין</a:t>
            </a:r>
          </a:p>
        </p:txBody>
      </p:sp>
      <p:sp>
        <p:nvSpPr>
          <p:cNvPr id="12" name="Shape 9"/>
          <p:cNvSpPr/>
          <p:nvPr/>
        </p:nvSpPr>
        <p:spPr>
          <a:xfrm>
            <a:off x="2770632" y="1463040"/>
            <a:ext cx="6583680" cy="4160520"/>
          </a:xfrm>
          <a:prstGeom prst="roundRect">
            <a:avLst>
              <a:gd name="adj" fmla="val 155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Shape 10"/>
          <p:cNvSpPr/>
          <p:nvPr/>
        </p:nvSpPr>
        <p:spPr>
          <a:xfrm>
            <a:off x="4690872" y="1627632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9B1B1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1"/>
          <p:cNvSpPr txBox="1"/>
          <p:nvPr/>
        </p:nvSpPr>
        <p:spPr>
          <a:xfrm>
            <a:off x="4690872" y="16276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he-IL" sz="13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שלב ב' 20-24.9 | מאמץ עיקרי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108192" y="210312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spcAft>
                <a:spcPts val="600"/>
              </a:spcAft>
              <a:buNone/>
            </a:pPr>
            <a:r>
              <a:rPr lang="he-IL" sz="1250" b="1" dirty="0">
                <a:solidFill>
                  <a:srgbClr val="9F22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הובלות וניוד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הוצאת ריו סולר ביום א' 20.9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b="1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משאיות FMTV נכנסות ללבנון ב-22.9, מעמיסות את הגדוד בבוקר 23.9 ויוצאות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האמרים מחצרות יסף למטמנת עברון - העמסה ע"ג מובילים עם ציוד קשר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b="1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העמסה: רכבי פתן - פתן | כל שאר הרכבים - פלס"מ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פירוק ציוד הקשר בבילו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ליווי למשאיות הנוסעות עם מכשירי קשר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הורדת משאיות בנסיעה | מכולה + מלגזה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תובלתיות 23.9 - העמסת תיקי לוחמים בחצרות יסף לבילו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תובלתית למשטח שלומית - ציוד פלוגה ב'</a:t>
            </a:r>
          </a:p>
        </p:txBody>
      </p:sp>
      <p:sp>
        <p:nvSpPr>
          <p:cNvPr id="104" name="Text 12L"/>
          <p:cNvSpPr txBox="1"/>
          <p:nvPr/>
        </p:nvSpPr>
        <p:spPr>
          <a:xfrm>
            <a:off x="2907792" y="210312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spcAft>
                <a:spcPts val="600"/>
              </a:spcAft>
              <a:buNone/>
            </a:pPr>
            <a:r>
              <a:rPr lang="he-IL" sz="1250" b="1" dirty="0">
                <a:solidFill>
                  <a:srgbClr val="9F22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זיכוי ומנהלה - חצרות יסף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זיכוי כלל חיילי הגדוד בחצרות יסף כולל מסדרים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b="1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חיילי פלוגה ב' מגיעים לזיכוי נשקים ואמר"לים בחצרות יסף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הורדת כלל האמצעים למחנה ליפקין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דיווח ירוק צל"מ במחנה ליפקין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העברת חתימות וזיכוי חצרות יסף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זיכוי סמים חטיבתי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העברת המקל לגדוד גפן</a:t>
            </a:r>
          </a:p>
        </p:txBody>
      </p:sp>
      <p:sp>
        <p:nvSpPr>
          <p:cNvPr id="20" name="Shape 17"/>
          <p:cNvSpPr/>
          <p:nvPr/>
        </p:nvSpPr>
        <p:spPr>
          <a:xfrm>
            <a:off x="548640" y="5806440"/>
            <a:ext cx="10588752" cy="566928"/>
          </a:xfrm>
          <a:prstGeom prst="roundRect">
            <a:avLst>
              <a:gd name="adj" fmla="val 9677"/>
            </a:avLst>
          </a:prstGeom>
          <a:solidFill>
            <a:srgbClr val="6E121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8"/>
          <p:cNvSpPr txBox="1"/>
          <p:nvPr/>
        </p:nvSpPr>
        <p:spPr>
          <a:xfrm>
            <a:off x="777240" y="5806440"/>
            <a:ext cx="10177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‏מצב סיום גדודי: </a:t>
            </a:r>
            <a:r>
              <a:rPr lang="en-US" sz="14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</a:t>
            </a: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האמצעים</a:t>
            </a: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מזוכים</a:t>
            </a: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ומאופסנים</a:t>
            </a: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בונקר גדודי ספור ומשולט | הגדוד ערוך למעבר לכוננות גדוד מהיר</a:t>
            </a:r>
            <a:endParaRPr lang="en-US" sz="1450" dirty="0"/>
          </a:p>
        </p:txBody>
      </p:sp>
      <p:sp>
        <p:nvSpPr>
          <p:cNvPr id="100" name="Stage C bg"/>
          <p:cNvSpPr/>
          <p:nvPr/>
        </p:nvSpPr>
        <p:spPr>
          <a:xfrm>
            <a:off x="530352" y="1463040"/>
            <a:ext cx="2011680" cy="416052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1" name="Stage C pill"/>
          <p:cNvSpPr/>
          <p:nvPr/>
        </p:nvSpPr>
        <p:spPr>
          <a:xfrm>
            <a:off x="667512" y="1627632"/>
            <a:ext cx="1737360" cy="384048"/>
          </a:xfrm>
          <a:prstGeom prst="roundRect">
            <a:avLst>
              <a:gd name="adj" fmla="val 13333"/>
            </a:avLst>
          </a:prstGeom>
          <a:solidFill>
            <a:srgbClr val="9B1B1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2" name="Stage C pill text"/>
          <p:cNvSpPr txBox="1"/>
          <p:nvPr/>
        </p:nvSpPr>
        <p:spPr>
          <a:xfrm>
            <a:off x="667512" y="16276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</a:t>
            </a:r>
            <a:r>
              <a:rPr lang="en-US" sz="1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ג</a:t>
            </a:r>
            <a:r>
              <a:rPr lang="he-IL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מאסף 4-15.10</a:t>
            </a:r>
            <a:endParaRPr lang="en-US" sz="1300" dirty="0"/>
          </a:p>
        </p:txBody>
      </p:sp>
      <p:sp>
        <p:nvSpPr>
          <p:cNvPr id="103" name="Stage C text"/>
          <p:cNvSpPr txBox="1"/>
          <p:nvPr/>
        </p:nvSpPr>
        <p:spPr>
          <a:xfrm>
            <a:off x="640080" y="2103120"/>
            <a:ext cx="17922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ימי עיבוד 4-5.10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מסדרים פלוגתיים 6-8.10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 מאסף ימ"ח גדודי 11-15.10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ספירות צל"מ, תחמושת וסמים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ארמו"ן וכנות נשק</a:t>
            </a:r>
          </a:p>
          <a:p>
            <a:pPr marL="127000" indent="-127000" algn="r" rtl="1">
              <a:spcAft>
                <a:spcPts val="500"/>
              </a:spcAft>
              <a:buSzPct val="100000"/>
              <a:buChar char="•"/>
            </a:pPr>
            <a:r>
              <a:rPr lang="he-IL" sz="11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סגירת ימ"ח ומסדר מח"ט 15.10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20040"/>
            <a:ext cx="566928" cy="566928"/>
          </a:xfrm>
          <a:prstGeom prst="rect">
            <a:avLst/>
          </a:prstGeom>
          <a:solidFill>
            <a:srgbClr val="9B1B1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 txBox="1"/>
          <p:nvPr/>
        </p:nvSpPr>
        <p:spPr>
          <a:xfrm>
            <a:off x="11137392" y="320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0405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‏גאנט גדודי - ספטמבר-אוקטובר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90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‏גדוד 28 | תוכנית ירידה מתע"מ לבנון | בלמ"ס</a:t>
            </a:r>
            <a:endParaRPr lang="en-US" sz="900" dirty="0"/>
          </a:p>
        </p:txBody>
      </p:sp>
      <p:pic>
        <p:nvPicPr>
          <p:cNvPr id="7" name="Image 0" descr="/tmp/claude-0/-home-user-fast-battalion/27bfe9ab-8bf6-55dd-87d9-f6bc8892020b/scratchpa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37160"/>
            <a:ext cx="474329" cy="658368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290523"/>
              </p:ext>
            </p:extLst>
          </p:nvPr>
        </p:nvGraphicFramePr>
        <p:xfrm>
          <a:off x="381000" y="1060704"/>
          <a:ext cx="11259312" cy="4627270"/>
        </p:xfrm>
        <a:graphic>
          <a:graphicData uri="http://schemas.openxmlformats.org/drawingml/2006/table">
            <a:tbl>
              <a:tblPr/>
              <a:tblGrid>
                <a:gridCol w="1509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9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9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9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9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90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61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4011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‏ש'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‏ו'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‏ה'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‏ד'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‏ג'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‏ב'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‏א'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‏שבוע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7886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‪19.9‬‏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‪18.9‬‏</a:t>
                      </a:r>
                      <a:endParaRPr lang="he-IL" sz="950" b="1" dirty="0">
                        <a:solidFill>
                          <a:srgbClr val="9B1B1F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he-IL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הורדת נגררים של הפלוגות </a:t>
                      </a:r>
                      <a:r>
                        <a:rPr lang="he-IL" sz="950" b="1" dirty="0" err="1">
                          <a:solidFill>
                            <a:srgbClr val="9B1B1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לבילו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‪17.9‬‏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‏חצרות יסף במינימום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‏ניוד מכולות/רכבים לבילו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‏סד"כ חטיבתי חצוי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‏הזמנת תובלה - הורדת תיקים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‪16.9‬‏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b="1" u="sng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</a:t>
                      </a:r>
                      <a:r>
                        <a:rPr lang="he-IL" sz="800" b="1" u="sng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זיכוי חצי גדוד </a:t>
                      </a:r>
                      <a:endParaRPr lang="en-US" sz="1200" b="1" u="sng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‏מסדר ספירת תיקים - מסיימי תעסוקה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‪15.9‬‏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‏דילול אמצעים + סד"כ גדודים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‪14.9‬‏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‏דילול אמצעים - חצרות יסף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‪13.9‬‏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‏ראש השנה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689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‪26.9‬‏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‏סוכות א'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‪25.9‬‏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‏סוכות א'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‪24.9‬‏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</a:t>
                      </a:r>
                      <a:r>
                        <a:rPr lang="he-IL" sz="10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סידור </a:t>
                      </a:r>
                      <a:r>
                        <a:rPr lang="he-IL" sz="10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הימ"ח</a:t>
                      </a:r>
                      <a:r>
                        <a:rPr lang="he-IL" sz="10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 לקראת מאסף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10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‏זיכוי </a:t>
                      </a:r>
                      <a:r>
                        <a:rPr lang="en-US" sz="10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חצרות</a:t>
                      </a:r>
                      <a:r>
                        <a:rPr lang="en-US" sz="10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יסף</a:t>
                      </a:r>
                      <a:r>
                        <a:rPr lang="en-US" sz="10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he-IL" sz="10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אחריות</a:t>
                      </a:r>
                      <a:r>
                        <a:rPr lang="en-US" sz="10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r>
                        <a:rPr lang="en-US" sz="10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מפל"ג</a:t>
                      </a:r>
                      <a:r>
                        <a:rPr lang="en-US" sz="10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פלס"מ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‪23.9‬‏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</a:t>
                      </a:r>
                      <a:r>
                        <a:rPr lang="he-IL" sz="10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זיכוי חיילים בחצרות יסף</a:t>
                      </a:r>
                    </a:p>
                    <a:p>
                      <a:pPr marL="0" indent="0" algn="r" rtl="1">
                        <a:buNone/>
                      </a:pPr>
                      <a:r>
                        <a:rPr lang="he-IL" sz="10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הובלות רכבים ע"פ טבלת הובלות למחנה ליפקין</a:t>
                      </a:r>
                    </a:p>
                    <a:p>
                      <a:pPr marL="0" indent="0" algn="r" rtl="1">
                        <a:buNone/>
                      </a:pPr>
                      <a:r>
                        <a:rPr lang="he-IL" sz="10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החלפת גזרות 28-גפן</a:t>
                      </a:r>
                    </a:p>
                    <a:p>
                      <a:pPr marL="0" indent="0" algn="r" rtl="1">
                        <a:buNone/>
                      </a:pPr>
                      <a:r>
                        <a:rPr lang="he-IL" sz="1200" b="1" u="sng" dirty="0">
                          <a:solidFill>
                            <a:srgbClr val="26262B"/>
                          </a:solidFill>
                          <a:highlight>
                            <a:srgbClr val="00FF00"/>
                          </a:highligh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ירוק על כלל הצלמים הגדודים בסוף היום </a:t>
                      </a: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‪22.9‬‏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10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</a:t>
                      </a:r>
                      <a:r>
                        <a:rPr lang="he-IL" sz="10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משאיות נכנסות ללבנון להורדת ציוד פלוגות ביום 23.9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‪21.9‬‏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‏יום כיפור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‪20.9‬‏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1200" b="1" u="none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</a:t>
                      </a:r>
                      <a:r>
                        <a:rPr lang="he-IL" sz="1200" b="1" u="none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הוצאת ריו סולר</a:t>
                      </a:r>
                      <a:r>
                        <a:rPr lang="en-US" sz="1200" b="1" u="none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he-IL" sz="1200" b="1" u="none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לחצרות יסף </a:t>
                      </a:r>
                    </a:p>
                    <a:p>
                      <a:pPr marL="0" indent="0" algn="r" rtl="1">
                        <a:buNone/>
                      </a:pPr>
                      <a:r>
                        <a:rPr lang="he-IL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ערב יום כיפור 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129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‪3.10‬‏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‏סוכות ב'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‪2.10‬‏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‏סוכות ב'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‪1.10‬‏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10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</a:t>
                      </a:r>
                      <a:r>
                        <a:rPr lang="en-US" sz="10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גדוד</a:t>
                      </a:r>
                      <a:r>
                        <a:rPr lang="en-US" sz="10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מהיר</a:t>
                      </a:r>
                      <a:r>
                        <a:rPr lang="en-US" sz="10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‪30.9‬‏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</a:t>
                      </a:r>
                      <a:r>
                        <a:rPr lang="en-US" sz="8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חול</a:t>
                      </a: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המועד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‪29.9‬‏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</a:t>
                      </a:r>
                      <a:r>
                        <a:rPr lang="en-US" sz="8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חול</a:t>
                      </a: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המועד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‪28.9‬‏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</a:t>
                      </a:r>
                      <a:r>
                        <a:rPr lang="en-US" sz="8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חול</a:t>
                      </a: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המועד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‪27.9‬‏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</a:t>
                      </a:r>
                      <a:r>
                        <a:rPr lang="en-US" sz="8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חול</a:t>
                      </a: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המועד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65187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‪10.10‬‏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‪9.10‬‏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‪8.10‬‏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</a:t>
                      </a:r>
                      <a:r>
                        <a:rPr lang="en-US" sz="12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בחינות</a:t>
                      </a:r>
                      <a:r>
                        <a:rPr lang="en-US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נשק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</a:t>
                      </a:r>
                      <a:r>
                        <a:rPr lang="en-US" sz="12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מסדר</a:t>
                      </a:r>
                      <a:r>
                        <a:rPr lang="en-US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he-IL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תיקים </a:t>
                      </a:r>
                      <a:r>
                        <a:rPr lang="he-IL" sz="12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פלס"מ</a:t>
                      </a:r>
                      <a:r>
                        <a:rPr lang="he-IL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‪7.10‬‏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</a:t>
                      </a:r>
                      <a:r>
                        <a:rPr lang="en-US" sz="12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בחינות</a:t>
                      </a:r>
                      <a:r>
                        <a:rPr lang="en-US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נשק</a:t>
                      </a:r>
                      <a:r>
                        <a:rPr lang="en-US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</a:p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</a:t>
                      </a:r>
                      <a:r>
                        <a:rPr lang="en-US" sz="12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מסדר</a:t>
                      </a:r>
                      <a:r>
                        <a:rPr lang="en-US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he-IL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תיקים לפלוגה ג+ מסייעת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‪6.10‬‏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</a:t>
                      </a:r>
                      <a:r>
                        <a:rPr lang="en-US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בחינות </a:t>
                      </a:r>
                      <a:r>
                        <a:rPr lang="en-US" sz="12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נשק</a:t>
                      </a:r>
                      <a:r>
                        <a:rPr lang="en-US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</a:p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</a:t>
                      </a:r>
                      <a:r>
                        <a:rPr lang="en-US" sz="12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מסדר</a:t>
                      </a:r>
                      <a:r>
                        <a:rPr lang="en-US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he-IL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תיקים לפלוגה </a:t>
                      </a:r>
                      <a:r>
                        <a:rPr lang="he-IL" sz="12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א+ב</a:t>
                      </a:r>
                      <a:r>
                        <a:rPr lang="he-IL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‏\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‪5.10‬‏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</a:t>
                      </a:r>
                      <a:r>
                        <a:rPr lang="en-US" sz="12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יום</a:t>
                      </a:r>
                      <a:r>
                        <a:rPr lang="en-US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עיבוד</a:t>
                      </a:r>
                      <a:r>
                        <a:rPr lang="he-IL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ירושלים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‪4.10‬‏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</a:t>
                      </a:r>
                      <a:r>
                        <a:rPr lang="en-US" sz="12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יום</a:t>
                      </a:r>
                      <a:r>
                        <a:rPr lang="en-US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עיבוד</a:t>
                      </a:r>
                      <a:r>
                        <a:rPr lang="he-IL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ירושלים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33517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‪17.10‬‏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‪16.10‬‏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‪15.10‬‏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</a:t>
                      </a:r>
                      <a:r>
                        <a:rPr lang="he-IL" sz="10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מסדר מח"ט מלא </a:t>
                      </a:r>
                      <a:endParaRPr lang="en-US" sz="1000" dirty="0">
                        <a:solidFill>
                          <a:srgbClr val="26262B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en-US" sz="10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</a:t>
                      </a:r>
                      <a:r>
                        <a:rPr lang="he-IL" sz="10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תג"ב</a:t>
                      </a:r>
                      <a:r>
                        <a:rPr lang="he-IL" sz="10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דו"ח</a:t>
                      </a:r>
                      <a:r>
                        <a:rPr lang="en-US" sz="10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תחמושת ותאונות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‪14.10‬‏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</a:t>
                      </a:r>
                      <a:r>
                        <a:rPr lang="en-US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</a:t>
                      </a:r>
                      <a:r>
                        <a:rPr lang="he-IL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העלאת כשירות שבוע מאסף גדודי </a:t>
                      </a:r>
                    </a:p>
                    <a:p>
                      <a:pPr marL="0" indent="0" algn="r" rtl="1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‪13.10‬‏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</a:t>
                      </a:r>
                      <a:r>
                        <a:rPr lang="he-IL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העלאת כשירות שבוע מאסף גדודי </a:t>
                      </a:r>
                    </a:p>
                    <a:p>
                      <a:pPr marL="0" indent="0" algn="r" rtl="1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‪12.10‬‏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‏‏</a:t>
                      </a:r>
                      <a:r>
                        <a:rPr lang="he-IL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העלאת כשירות שבוע מאסף גדודי </a:t>
                      </a:r>
                    </a:p>
                    <a:p>
                      <a:pPr marL="0" indent="0" algn="r" rtl="1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950" b="1" dirty="0">
                          <a:solidFill>
                            <a:srgbClr val="9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‪11.10‬‏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‏‏</a:t>
                      </a:r>
                      <a:r>
                        <a:rPr lang="he-IL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העלאת כשירות שבוע מאסף גדודי </a:t>
                      </a:r>
                    </a:p>
                    <a:p>
                      <a:pPr marL="0" indent="0" algn="r" rtl="1">
                        <a:buNone/>
                      </a:pPr>
                      <a:r>
                        <a:rPr lang="he-IL" sz="1200" dirty="0">
                          <a:solidFill>
                            <a:srgbClr val="26262B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ירידת כלים לסדנה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74320"/>
            <a:ext cx="530352" cy="566928"/>
          </a:xfrm>
          <a:prstGeom prst="rect">
            <a:avLst/>
          </a:prstGeom>
          <a:solidFill>
            <a:srgbClr val="9F222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 txBox="1"/>
          <p:nvPr/>
        </p:nvSpPr>
        <p:spPr>
          <a:xfrm>
            <a:off x="11475720" y="27432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2743200" y="237744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30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הובלות ירידה מתע"מ</a:t>
            </a:r>
            <a:endParaRPr lang="he-IL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85953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עדכון להובלות | סה"כ בתוכנית: 26 כלים | יום ג' 22.9: 6 כלים | יום ד' 23.9: 20 כלים ע"ג 10 פלטות</a:t>
            </a:r>
            <a:endParaRPr lang="he-IL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he-IL" alt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גדוד 28 | תוכנית ירידה מתע"מ לבנון | בלמ"ס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720840" y="1335024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7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יום שלישי 22.9</a:t>
            </a:r>
            <a:endParaRPr lang="he-IL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720840" y="173736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הובלה 2 האמרים </a:t>
            </a:r>
            <a:endParaRPr lang="he-IL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745759"/>
              </p:ext>
            </p:extLst>
          </p:nvPr>
        </p:nvGraphicFramePr>
        <p:xfrm>
          <a:off x="6720840" y="2011680"/>
          <a:ext cx="5074920" cy="76809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הערות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צ'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סוג רכב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702401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702039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חט"פ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720840" y="306324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ירידה בנסיעה עצמית 23.9</a:t>
            </a:r>
            <a:endParaRPr lang="he-IL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504545"/>
              </p:ext>
            </p:extLst>
          </p:nvPr>
        </p:nvGraphicFramePr>
        <p:xfrm>
          <a:off x="6720840" y="3337560"/>
          <a:ext cx="5074920" cy="1792224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הערות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צ'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סוג רכב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727491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FMTV ארוכה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727496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FMTV ארוכה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990129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FMTV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990009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FMTV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sz="1000" dirty="0" err="1">
                          <a:latin typeface="Arial" charset="0"/>
                          <a:ea typeface="Arial" charset="0"/>
                          <a:cs typeface="Arial" charset="0"/>
                        </a:rPr>
                        <a:t>תובלתית</a:t>
                      </a:r>
                      <a:r>
                        <a:rPr lang="he-IL" sz="1000" dirty="0">
                          <a:latin typeface="Arial" charset="0"/>
                          <a:ea typeface="Arial" charset="0"/>
                          <a:cs typeface="Arial" charset="0"/>
                        </a:rPr>
                        <a:t> מרכז הובלה 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47148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sz="1000" dirty="0" err="1">
                          <a:latin typeface="Arial" charset="0"/>
                          <a:ea typeface="Arial" charset="0"/>
                          <a:cs typeface="Arial" charset="0"/>
                        </a:rPr>
                        <a:t>תובלתית</a:t>
                      </a:r>
                      <a:r>
                        <a:rPr lang="he-IL" sz="1000" dirty="0">
                          <a:latin typeface="Arial" charset="0"/>
                          <a:ea typeface="Arial" charset="0"/>
                          <a:cs typeface="Arial" charset="0"/>
                        </a:rPr>
                        <a:t> מרכז הובלה 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151155"/>
                  </a:ext>
                </a:extLst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411480" y="1335024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7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יום רביעי 23.9 20 כלים ע"ג 10 פלטות</a:t>
            </a:r>
            <a:endParaRPr lang="he-IL" sz="1700" dirty="0"/>
          </a:p>
        </p:txBody>
      </p:sp>
      <p:graphicFrame>
        <p:nvGraphicFramePr>
          <p:cNvPr id="1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139729"/>
              </p:ext>
            </p:extLst>
          </p:nvPr>
        </p:nvGraphicFramePr>
        <p:xfrm>
          <a:off x="411480" y="1737360"/>
          <a:ext cx="5989320" cy="4570167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7627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הערות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סוג רכב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צ'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גנרי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702140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705472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גנרי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702692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סגן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705636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גנרי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702924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גפן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700702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גפן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702285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11 א'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703360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חנית (עוקץ)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702764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חנית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700646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703746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705584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מנהלה - מסייעת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705407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מנהלה - פלס"מ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706272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מנהלה - ב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705655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13 א'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702177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702256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מפקד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705337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מנהלה - ג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705897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10 א'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702189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20040"/>
            <a:ext cx="566928" cy="566928"/>
          </a:xfrm>
          <a:prstGeom prst="rect">
            <a:avLst/>
          </a:prstGeom>
          <a:solidFill>
            <a:srgbClr val="9B1B1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 txBox="1"/>
          <p:nvPr/>
        </p:nvSpPr>
        <p:spPr>
          <a:xfrm>
            <a:off x="11137392" y="320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0405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‏כוח </a:t>
            </a:r>
            <a:r>
              <a:rPr lang="en-US" sz="3000" b="1" dirty="0" err="1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אדם</a:t>
            </a:r>
            <a:r>
              <a:rPr lang="en-US" sz="3000" b="1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</a:t>
            </a:r>
            <a:r>
              <a:rPr lang="he-IL" sz="3000" b="1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שבוע מאסף + שבוע חזרה לכוננות וארגון </a:t>
            </a:r>
            <a:r>
              <a:rPr lang="he-IL" sz="3000" b="1" dirty="0" err="1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הימ"ח</a:t>
            </a:r>
            <a:r>
              <a:rPr lang="he-IL" sz="3000" b="1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96112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8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‏חלוקה לפי </a:t>
            </a:r>
            <a:r>
              <a:rPr lang="en-US" sz="1400" dirty="0" err="1">
                <a:solidFill>
                  <a:srgbClr val="58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מחלקות</a:t>
            </a:r>
            <a:r>
              <a:rPr lang="en-US" sz="1400" dirty="0">
                <a:solidFill>
                  <a:srgbClr val="58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58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וימים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90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‏גדוד 28 | תוכנית ירידה מתע"מ לבנון | בלמ"ס</a:t>
            </a:r>
            <a:endParaRPr lang="en-US" sz="900" dirty="0"/>
          </a:p>
        </p:txBody>
      </p:sp>
      <p:pic>
        <p:nvPicPr>
          <p:cNvPr id="7" name="Image 0" descr="/tmp/claude-0/-home-user-fast-battalion/27bfe9ab-8bf6-55dd-87d9-f6bc8892020b/scratchpa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37160"/>
            <a:ext cx="474329" cy="658368"/>
          </a:xfrm>
          <a:prstGeom prst="rect">
            <a:avLst/>
          </a:prstGeom>
        </p:spPr>
      </p:pic>
      <p:graphicFrame>
        <p:nvGraphicFramePr>
          <p:cNvPr id="900" name="KoachAdamXlsx"/>
          <p:cNvGraphicFramePr/>
          <p:nvPr>
            <p:extLst>
              <p:ext uri="{D42A27DB-BD31-4B8C-83A1-F6EECF244321}">
                <p14:modId xmlns:p14="http://schemas.microsoft.com/office/powerpoint/2010/main" val="662022645"/>
              </p:ext>
            </p:extLst>
          </p:nvPr>
        </p:nvGraphicFramePr>
        <p:xfrm>
          <a:off x="549275" y="1271588"/>
          <a:ext cx="11422063" cy="493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2093046" imgH="4930124" progId="Excel.Sheet.12">
                  <p:embed/>
                </p:oleObj>
              </mc:Choice>
              <mc:Fallback>
                <p:oleObj name="Worksheet" r:id="rId4" imgW="12093046" imgH="4930124" progId="Excel.Sheet.12">
                  <p:embed/>
                  <p:pic>
                    <p:nvPicPr>
                      <p:cNvPr id="900" name="KoachAdamXlsx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9275" y="1271588"/>
                        <a:ext cx="11422063" cy="4930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1E1035C9-0A68-1AA8-3D43-0293E4979C2C}"/>
              </a:ext>
            </a:extLst>
          </p:cNvPr>
          <p:cNvSpPr txBox="1"/>
          <p:nvPr/>
        </p:nvSpPr>
        <p:spPr>
          <a:xfrm>
            <a:off x="3989018" y="6261854"/>
            <a:ext cx="544572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>
                <a:highlight>
                  <a:srgbClr val="FFFF00"/>
                </a:highlight>
              </a:rPr>
              <a:t>חיילים מגויסים במהלך התעסוקה: 631 מתוכם 21 מסופחים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20040"/>
            <a:ext cx="566928" cy="566928"/>
          </a:xfrm>
          <a:prstGeom prst="rect">
            <a:avLst/>
          </a:prstGeom>
          <a:solidFill>
            <a:srgbClr val="9B1B1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 txBox="1"/>
          <p:nvPr/>
        </p:nvSpPr>
        <p:spPr>
          <a:xfrm>
            <a:off x="11137392" y="320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10405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‏פערים לחזרה לכשירות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96112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8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‏פערים מרכזיים להצפה במסגרת החזרה לכשירות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90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‏גדוד 28 | תוכנית ירידה מתע"מ לבנון | בלמ"ס</a:t>
            </a:r>
            <a:endParaRPr lang="en-US" sz="900" dirty="0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474329" cy="658368"/>
          </a:xfrm>
          <a:prstGeom prst="rect">
            <a:avLst/>
          </a:prstGeom>
        </p:spPr>
      </p:pic>
      <p:sp>
        <p:nvSpPr>
          <p:cNvPr id="8" name="Card 1 bg"/>
          <p:cNvSpPr/>
          <p:nvPr/>
        </p:nvSpPr>
        <p:spPr>
          <a:xfrm>
            <a:off x="548640" y="1325880"/>
            <a:ext cx="10588752" cy="749808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Card 1 pill"/>
          <p:cNvSpPr/>
          <p:nvPr/>
        </p:nvSpPr>
        <p:spPr>
          <a:xfrm>
            <a:off x="9171432" y="1495044"/>
            <a:ext cx="1783080" cy="411480"/>
          </a:xfrm>
          <a:prstGeom prst="roundRect">
            <a:avLst>
              <a:gd name="adj" fmla="val 13333"/>
            </a:avLst>
          </a:prstGeom>
          <a:solidFill>
            <a:srgbClr val="9B1B1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Card 1 pill text"/>
          <p:cNvSpPr txBox="1"/>
          <p:nvPr/>
        </p:nvSpPr>
        <p:spPr>
          <a:xfrm>
            <a:off x="9171432" y="149504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‏ציוד אמסל"ח</a:t>
            </a:r>
            <a:endParaRPr lang="en-US" sz="1300" dirty="0"/>
          </a:p>
        </p:txBody>
      </p:sp>
      <p:sp>
        <p:nvSpPr>
          <p:cNvPr id="11" name="Card 1 text"/>
          <p:cNvSpPr txBox="1"/>
          <p:nvPr/>
        </p:nvSpPr>
        <p:spPr>
          <a:xfrm>
            <a:off x="731520" y="1371600"/>
            <a:ext cx="8211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‏אין לגדוד ציוד לקליטת חיילים חדשים - בנוסף לחוסר המצטבר מתחילת התעסוקה.</a:t>
            </a:r>
            <a:endParaRPr lang="en-US" sz="1250" dirty="0"/>
          </a:p>
          <a:p>
            <a:pPr marL="0" indent="0" algn="r" rtl="1">
              <a:buNone/>
            </a:pPr>
            <a:r>
              <a:rPr lang="en-US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‏חסרה משאית רענון לסוף התעסוקה - חילוף נעליים, מדים ווסטים | כ־150‏ מזרנים לא יחזרו מלבנון עקב פשפשים.</a:t>
            </a:r>
            <a:endParaRPr lang="en-US" sz="1250" dirty="0"/>
          </a:p>
        </p:txBody>
      </p:sp>
      <p:sp>
        <p:nvSpPr>
          <p:cNvPr id="12" name="Card 2 bg"/>
          <p:cNvSpPr/>
          <p:nvPr/>
        </p:nvSpPr>
        <p:spPr>
          <a:xfrm>
            <a:off x="548640" y="2167128"/>
            <a:ext cx="10588752" cy="749808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Card 2 pill"/>
          <p:cNvSpPr/>
          <p:nvPr/>
        </p:nvSpPr>
        <p:spPr>
          <a:xfrm>
            <a:off x="9171432" y="2336292"/>
            <a:ext cx="1783080" cy="411480"/>
          </a:xfrm>
          <a:prstGeom prst="roundRect">
            <a:avLst>
              <a:gd name="adj" fmla="val 13333"/>
            </a:avLst>
          </a:prstGeom>
          <a:solidFill>
            <a:srgbClr val="9B1B1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Card 2 pill text"/>
          <p:cNvSpPr txBox="1"/>
          <p:nvPr/>
        </p:nvSpPr>
        <p:spPr>
          <a:xfrm>
            <a:off x="9171432" y="23362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‏הסמכות</a:t>
            </a:r>
            <a:endParaRPr lang="en-US" sz="1300" dirty="0"/>
          </a:p>
        </p:txBody>
      </p:sp>
      <p:sp>
        <p:nvSpPr>
          <p:cNvPr id="15" name="Card 2 text"/>
          <p:cNvSpPr txBox="1"/>
          <p:nvPr/>
        </p:nvSpPr>
        <p:spPr>
          <a:xfrm>
            <a:off x="731520" y="2212848"/>
            <a:ext cx="8211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‏הסמכות זיג 7‏: כיום 20‏ מוסמכים בלבד ל־20‏ נשקים.</a:t>
            </a:r>
            <a:endParaRPr lang="en-US" sz="1250" dirty="0"/>
          </a:p>
          <a:p>
            <a:pPr marL="0" indent="0" algn="r" rtl="1">
              <a:buNone/>
            </a:pPr>
            <a:r>
              <a:rPr lang="en-US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‏ככל שיילקחו כלל הנגבים </a:t>
            </a:r>
            <a:r>
              <a:rPr lang="en-US" sz="1250" dirty="0" err="1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מהגדוד</a:t>
            </a:r>
            <a:r>
              <a:rPr lang="en-US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33‏ </a:t>
            </a:r>
            <a:r>
              <a:rPr lang="en-US" sz="1250" dirty="0" err="1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במספר</a:t>
            </a:r>
            <a:r>
              <a:rPr lang="en-US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dirty="0" err="1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נדרשת</a:t>
            </a:r>
            <a:r>
              <a:rPr lang="en-US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הכשרת חיילים </a:t>
            </a:r>
            <a:r>
              <a:rPr lang="en-US" sz="1250" dirty="0" err="1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נוספים</a:t>
            </a:r>
            <a:r>
              <a:rPr lang="en-US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dirty="0" err="1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לזיג</a:t>
            </a:r>
            <a:r>
              <a:rPr lang="he-IL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he-IL" sz="1250" dirty="0">
              <a:solidFill>
                <a:srgbClr val="2626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r" rtl="1">
              <a:buNone/>
            </a:pPr>
            <a:r>
              <a:rPr lang="he-IL" sz="1250" b="1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הסמכות נהיגה</a:t>
            </a:r>
            <a:endParaRPr lang="en-US" sz="1250" b="1" dirty="0"/>
          </a:p>
        </p:txBody>
      </p:sp>
      <p:sp>
        <p:nvSpPr>
          <p:cNvPr id="16" name="Card 3 bg"/>
          <p:cNvSpPr/>
          <p:nvPr/>
        </p:nvSpPr>
        <p:spPr>
          <a:xfrm>
            <a:off x="548640" y="3008376"/>
            <a:ext cx="10588752" cy="749808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Card 3 pill"/>
          <p:cNvSpPr/>
          <p:nvPr/>
        </p:nvSpPr>
        <p:spPr>
          <a:xfrm>
            <a:off x="9171432" y="3177540"/>
            <a:ext cx="1783080" cy="411480"/>
          </a:xfrm>
          <a:prstGeom prst="roundRect">
            <a:avLst>
              <a:gd name="adj" fmla="val 13333"/>
            </a:avLst>
          </a:prstGeom>
          <a:solidFill>
            <a:srgbClr val="9B1B1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Card 3 pill text"/>
          <p:cNvSpPr txBox="1"/>
          <p:nvPr/>
        </p:nvSpPr>
        <p:spPr>
          <a:xfrm>
            <a:off x="9171432" y="31775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‏חימוש</a:t>
            </a:r>
            <a:endParaRPr lang="en-US" sz="1300" dirty="0"/>
          </a:p>
        </p:txBody>
      </p:sp>
      <p:sp>
        <p:nvSpPr>
          <p:cNvPr id="19" name="Card 3 text"/>
          <p:cNvSpPr txBox="1"/>
          <p:nvPr/>
        </p:nvSpPr>
        <p:spPr>
          <a:xfrm>
            <a:off x="731520" y="3054096"/>
            <a:ext cx="8211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</a:t>
            </a:r>
            <a:r>
              <a:rPr lang="he-IL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חוסר ב</a:t>
            </a:r>
            <a:r>
              <a:rPr lang="en-US" sz="1250" dirty="0" err="1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פק"ל</a:t>
            </a:r>
            <a:r>
              <a:rPr lang="en-US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dirty="0" err="1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שמנים</a:t>
            </a:r>
            <a:r>
              <a:rPr lang="en-US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dirty="0" err="1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בימ"ח</a:t>
            </a:r>
            <a:r>
              <a:rPr lang="he-IL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endParaRPr lang="en-US" sz="1250" dirty="0">
              <a:solidFill>
                <a:srgbClr val="2626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r" rtl="1">
              <a:buNone/>
            </a:pPr>
            <a:r>
              <a:rPr lang="en-US" sz="1250" dirty="0" err="1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אושקוש</a:t>
            </a:r>
            <a:r>
              <a:rPr lang="en-US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dirty="0" err="1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טרם</a:t>
            </a:r>
            <a:r>
              <a:rPr lang="en-US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ירד </a:t>
            </a:r>
            <a:r>
              <a:rPr lang="en-US" sz="1250" dirty="0" err="1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מחצרות</a:t>
            </a:r>
            <a:r>
              <a:rPr lang="en-US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dirty="0" err="1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יסף</a:t>
            </a:r>
            <a:r>
              <a:rPr lang="en-US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he-IL" sz="1250" dirty="0">
              <a:solidFill>
                <a:srgbClr val="2626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r" rtl="1">
              <a:buNone/>
            </a:pPr>
            <a:r>
              <a:rPr lang="he-IL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האמר 415 בסדנה </a:t>
            </a:r>
            <a:r>
              <a:rPr lang="he-IL" sz="1250" dirty="0" err="1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בציפורית</a:t>
            </a:r>
            <a:r>
              <a:rPr lang="he-IL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50" dirty="0"/>
          </a:p>
        </p:txBody>
      </p:sp>
      <p:sp>
        <p:nvSpPr>
          <p:cNvPr id="20" name="Card 4 bg"/>
          <p:cNvSpPr/>
          <p:nvPr/>
        </p:nvSpPr>
        <p:spPr>
          <a:xfrm>
            <a:off x="548640" y="3849624"/>
            <a:ext cx="10588752" cy="749808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Card 4 pill"/>
          <p:cNvSpPr/>
          <p:nvPr/>
        </p:nvSpPr>
        <p:spPr>
          <a:xfrm>
            <a:off x="9171432" y="4018787"/>
            <a:ext cx="1783080" cy="411480"/>
          </a:xfrm>
          <a:prstGeom prst="roundRect">
            <a:avLst>
              <a:gd name="adj" fmla="val 13333"/>
            </a:avLst>
          </a:prstGeom>
          <a:solidFill>
            <a:srgbClr val="9B1B1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Card 4 pill text"/>
          <p:cNvSpPr txBox="1"/>
          <p:nvPr/>
        </p:nvSpPr>
        <p:spPr>
          <a:xfrm>
            <a:off x="9171432" y="4018787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‏תחמושת</a:t>
            </a:r>
            <a:endParaRPr lang="en-US" sz="1300" dirty="0"/>
          </a:p>
        </p:txBody>
      </p:sp>
      <p:sp>
        <p:nvSpPr>
          <p:cNvPr id="23" name="Card 4 text"/>
          <p:cNvSpPr txBox="1"/>
          <p:nvPr/>
        </p:nvSpPr>
        <p:spPr>
          <a:xfrm>
            <a:off x="731520" y="3895344"/>
            <a:ext cx="8211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‏הגדוד יורד מהתע"מ ללא השלמת שצ"ל | ירידה לבילו ללא תחמושת מאג כלל.</a:t>
            </a:r>
            <a:endParaRPr lang="en-US" sz="1250" dirty="0"/>
          </a:p>
          <a:p>
            <a:pPr marL="0" indent="0" algn="r" rtl="1">
              <a:buNone/>
            </a:pPr>
            <a:r>
              <a:rPr lang="en-US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</a:t>
            </a:r>
            <a:r>
              <a:rPr lang="he-IL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זיכוי</a:t>
            </a:r>
            <a:r>
              <a:rPr lang="en-US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dirty="0" err="1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</a:t>
            </a:r>
            <a:r>
              <a:rPr lang="en-US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תחמושת 5.56‏ המשורשרת.</a:t>
            </a:r>
            <a:endParaRPr lang="en-US" sz="1250" dirty="0"/>
          </a:p>
        </p:txBody>
      </p:sp>
      <p:sp>
        <p:nvSpPr>
          <p:cNvPr id="24" name="Card 5 bg"/>
          <p:cNvSpPr/>
          <p:nvPr/>
        </p:nvSpPr>
        <p:spPr>
          <a:xfrm>
            <a:off x="548640" y="4690872"/>
            <a:ext cx="10588752" cy="749808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5" name="Card 5 pill"/>
          <p:cNvSpPr/>
          <p:nvPr/>
        </p:nvSpPr>
        <p:spPr>
          <a:xfrm>
            <a:off x="9171432" y="4860036"/>
            <a:ext cx="1783080" cy="411480"/>
          </a:xfrm>
          <a:prstGeom prst="roundRect">
            <a:avLst>
              <a:gd name="adj" fmla="val 13333"/>
            </a:avLst>
          </a:prstGeom>
          <a:solidFill>
            <a:srgbClr val="9B1B1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6" name="Card 5 pill text"/>
          <p:cNvSpPr txBox="1"/>
          <p:nvPr/>
        </p:nvSpPr>
        <p:spPr>
          <a:xfrm>
            <a:off x="9171432" y="48600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‏אחסון בארמו"ן</a:t>
            </a:r>
            <a:endParaRPr lang="en-US" sz="1300" dirty="0"/>
          </a:p>
        </p:txBody>
      </p:sp>
      <p:sp>
        <p:nvSpPr>
          <p:cNvPr id="27" name="Card 5 text"/>
          <p:cNvSpPr txBox="1"/>
          <p:nvPr/>
        </p:nvSpPr>
        <p:spPr>
          <a:xfrm>
            <a:off x="731520" y="4736592"/>
            <a:ext cx="8211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‏אחסון ציוד בארמו"ן החטיבתי - נדרשים ארונות לאחסון הצלמ"ים </a:t>
            </a:r>
            <a:r>
              <a:rPr lang="en-US" sz="1250" dirty="0" err="1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והציוד</a:t>
            </a:r>
            <a:r>
              <a:rPr lang="en-US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r" rtl="1">
              <a:buNone/>
            </a:pPr>
            <a:r>
              <a:rPr lang="en-US" sz="1250" b="1" dirty="0" err="1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השלמת</a:t>
            </a:r>
            <a:r>
              <a:rPr lang="en-US" sz="1250" b="1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ציוד מתקרית הפיצוץ.</a:t>
            </a:r>
            <a:endParaRPr lang="en-US" sz="1250" b="1" dirty="0"/>
          </a:p>
        </p:txBody>
      </p:sp>
      <p:sp>
        <p:nvSpPr>
          <p:cNvPr id="28" name="Card 6 bg"/>
          <p:cNvSpPr/>
          <p:nvPr/>
        </p:nvSpPr>
        <p:spPr>
          <a:xfrm>
            <a:off x="548640" y="5532120"/>
            <a:ext cx="10588752" cy="749808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9" name="Card 6 pill"/>
          <p:cNvSpPr/>
          <p:nvPr/>
        </p:nvSpPr>
        <p:spPr>
          <a:xfrm>
            <a:off x="9171432" y="5701284"/>
            <a:ext cx="1783080" cy="411480"/>
          </a:xfrm>
          <a:prstGeom prst="roundRect">
            <a:avLst>
              <a:gd name="adj" fmla="val 13333"/>
            </a:avLst>
          </a:prstGeom>
          <a:solidFill>
            <a:srgbClr val="9B1B1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Card 6 pill text"/>
          <p:cNvSpPr txBox="1"/>
          <p:nvPr/>
        </p:nvSpPr>
        <p:spPr>
          <a:xfrm>
            <a:off x="9171432" y="570128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he-IL" sz="13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רכב ומיכלית</a:t>
            </a:r>
          </a:p>
        </p:txBody>
      </p:sp>
      <p:sp>
        <p:nvSpPr>
          <p:cNvPr id="31" name="Card 6 text"/>
          <p:cNvSpPr txBox="1"/>
          <p:nvPr/>
        </p:nvSpPr>
        <p:spPr>
          <a:xfrm>
            <a:off x="731520" y="5577840"/>
            <a:ext cx="8211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spcAft>
                <a:spcPts val="300"/>
              </a:spcAft>
            </a:pPr>
            <a:r>
              <a:rPr lang="he-IL" sz="1250" b="1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מבקשים להשאיר רכב יר"מ 1 או לקבל רכב לבן מהחטיבה - להמשך ליווי 2 הפצועים שעדיין בשיבא.</a:t>
            </a:r>
          </a:p>
          <a:p>
            <a:pPr algn="r" rtl="1">
              <a:spcAft>
                <a:spcPts val="300"/>
              </a:spcAft>
            </a:pPr>
            <a:r>
              <a:rPr lang="he-IL" sz="1250" dirty="0">
                <a:solidFill>
                  <a:srgbClr val="26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גדוד מהיר מחייב מיכלית סולר.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1643</TotalTime>
  <Words>996</Words>
  <Application>Microsoft Office PowerPoint</Application>
  <PresentationFormat>מסך רחב</PresentationFormat>
  <Paragraphs>243</Paragraphs>
  <Slides>6</Slides>
  <Notes>5</Notes>
  <HiddenSlides>0</HiddenSlides>
  <MMClips>0</MMClips>
  <ScaleCrop>false</ScaleCrop>
  <HeadingPairs>
    <vt:vector size="8" baseType="variant">
      <vt:variant>
        <vt:lpstr>גופנים בשימוש</vt:lpstr>
      </vt:variant>
      <vt:variant>
        <vt:i4>1</vt:i4>
      </vt:variant>
      <vt:variant>
        <vt:lpstr>ערכת נושא</vt:lpstr>
      </vt:variant>
      <vt:variant>
        <vt:i4>1</vt:i4>
      </vt:variant>
      <vt:variant>
        <vt:lpstr>שרתי OLE מוטבעים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Office Theme</vt:lpstr>
      <vt:lpstr>Worksheet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איתי עוזיאל</cp:lastModifiedBy>
  <cp:revision>9</cp:revision>
  <cp:lastPrinted>2026-09-06T07:01:29Z</cp:lastPrinted>
  <dcterms:created xsi:type="dcterms:W3CDTF">2026-08-26T20:36:38Z</dcterms:created>
  <dcterms:modified xsi:type="dcterms:W3CDTF">2026-09-19T12:24:46Z</dcterms:modified>
</cp:coreProperties>
</file>