
<file path=[Content_Types].xml><?xml version="1.0" encoding="utf-8"?>
<Types xmlns="http://schemas.openxmlformats.org/package/2006/content-types">
  <Default Extension="emf" ContentType="image/x-emf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rtl="1" saveSubsetFonts="1" autoCompressPictures="0">
  <p:sldMasterIdLst>
    <p:sldMasterId id="2147483648" r:id="rId1"/>
  </p:sldMasterIdLst>
  <p:notesMasterIdLst>
    <p:notesMasterId r:id="rId8"/>
  </p:notesMasterIdLst>
  <p:sldIdLst>
    <p:sldId id="272" r:id="rId2"/>
    <p:sldId id="257" r:id="rId3"/>
    <p:sldId id="275" r:id="rId4"/>
    <p:sldId id="256" r:id="rId5"/>
    <p:sldId id="271" r:id="rId6"/>
    <p:sldId id="274" r:id="rId7"/>
  </p:sldIdLst>
  <p:sldSz cx="12192000" cy="6858000"/>
  <p:notesSz cx="6858000" cy="9945688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90441" autoAdjust="0"/>
    <p:restoredTop sz="95020" autoAdjust="0"/>
  </p:normalViewPr>
  <p:slideViewPr>
    <p:cSldViewPr snapToGrid="0" snapToObjects="1">
      <p:cViewPr varScale="1">
        <p:scale>
          <a:sx n="78" d="100"/>
          <a:sy n="78" d="100"/>
        </p:scale>
        <p:origin x="1128" y="7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heme" Target="theme/theme1.xml"/><Relationship Id="rId5" Type="http://schemas.openxmlformats.org/officeDocument/2006/relationships/slide" Target="slides/slide4.xml"/><Relationship Id="rId10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1336447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r" defTabSz="914400" rtl="1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r" defTabSz="914400" rtl="1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r" defTabSz="914400" rtl="1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r" defTabSz="914400" rtl="1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r" defTabSz="914400" rtl="1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r" defTabSz="914400" rtl="1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r" defTabSz="914400" rtl="1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r" defTabSz="914400" rtl="1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r" defTabSz="914400" rtl="1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 lIns="90855" tIns="45427" rIns="90855" bIns="45427"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 lIns="90855" tIns="45427" rIns="90855" bIns="45427"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 lIns="90855" tIns="45427" rIns="90855" bIns="45427"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 lIns="90855" tIns="45427" rIns="90855" bIns="45427"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 lIns="90855" tIns="45427" rIns="90855" bIns="45427"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 lIns="90855" tIns="45427" rIns="90855" bIns="45427"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 lIns="90855" tIns="45427" rIns="90855" bIns="45427"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 lIns="90855" tIns="45427" rIns="90855" bIns="45427"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3.emf"/><Relationship Id="rId4" Type="http://schemas.openxmlformats.org/officeDocument/2006/relationships/package" Target="../embeddings/Microsoft_Excel_Worksheet.xlsx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91B1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Left art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6096000" cy="6858000"/>
          </a:xfrm>
          <a:prstGeom prst="rect">
            <a:avLst/>
          </a:prstGeom>
        </p:spPr>
      </p:pic>
      <p:pic>
        <p:nvPicPr>
          <p:cNvPr id="3" name="Brigade shield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103800" y="1422400"/>
            <a:ext cx="458200" cy="641350"/>
          </a:xfrm>
          <a:prstGeom prst="rect">
            <a:avLst/>
          </a:prstGeom>
        </p:spPr>
      </p:pic>
      <p:sp>
        <p:nvSpPr>
          <p:cNvPr id="4" name="Unit line"/>
          <p:cNvSpPr txBox="1"/>
          <p:nvPr/>
        </p:nvSpPr>
        <p:spPr>
          <a:xfrm>
            <a:off x="7538800" y="1543050"/>
            <a:ext cx="3520000" cy="4000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he-IL" sz="1600" b="1" dirty="0">
                <a:solidFill>
                  <a:srgbClr val="F2F1EE"/>
                </a:solidFill>
                <a:latin typeface="Arial" pitchFamily="34" charset="0"/>
                <a:cs typeface="Arial" pitchFamily="34" charset="-120"/>
              </a:rPr>
              <a:t>‏גדוד 28 </a:t>
            </a:r>
            <a:r>
              <a:rPr lang="he-IL" sz="1600" b="1" dirty="0">
                <a:solidFill>
                  <a:srgbClr val="A32026"/>
                </a:solidFill>
                <a:latin typeface="Arial" pitchFamily="34" charset="0"/>
                <a:cs typeface="Arial" pitchFamily="34" charset="-120"/>
              </a:rPr>
              <a:t>| </a:t>
            </a:r>
            <a:r>
              <a:rPr lang="he-IL" sz="1600" dirty="0">
                <a:solidFill>
                  <a:srgbClr val="9A9AA0"/>
                </a:solidFill>
                <a:latin typeface="Arial" pitchFamily="34" charset="0"/>
                <a:cs typeface="Arial" pitchFamily="34" charset="-120"/>
              </a:rPr>
              <a:t>חטיבה 55</a:t>
            </a:r>
            <a:endParaRPr lang="he-IL" sz="1600" dirty="0"/>
          </a:p>
        </p:txBody>
      </p:sp>
      <p:sp>
        <p:nvSpPr>
          <p:cNvPr id="5" name="Title"/>
          <p:cNvSpPr txBox="1"/>
          <p:nvPr/>
        </p:nvSpPr>
        <p:spPr>
          <a:xfrm>
            <a:off x="4332000" y="2400300"/>
            <a:ext cx="7250000" cy="165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 rtl="1">
              <a:lnSpc>
                <a:spcPct val="98000"/>
              </a:lnSpc>
              <a:buNone/>
            </a:pPr>
            <a:r>
              <a:rPr lang="he-IL" sz="5200" b="1" dirty="0">
                <a:solidFill>
                  <a:srgbClr val="F2F1EE"/>
                </a:solidFill>
                <a:latin typeface="Arial" pitchFamily="34" charset="0"/>
                <a:cs typeface="Arial" pitchFamily="34" charset="-120"/>
              </a:rPr>
              <a:t>‏אישור תוכניות מח"ט </a:t>
            </a:r>
          </a:p>
          <a:p>
            <a:pPr marL="0" indent="0" algn="r" rtl="1">
              <a:lnSpc>
                <a:spcPct val="98000"/>
              </a:lnSpc>
              <a:buNone/>
            </a:pPr>
            <a:r>
              <a:rPr lang="he-IL" sz="5200" b="1" dirty="0">
                <a:solidFill>
                  <a:srgbClr val="F2F1EE"/>
                </a:solidFill>
                <a:latin typeface="Arial" pitchFamily="34" charset="0"/>
                <a:cs typeface="Arial" pitchFamily="34" charset="-120"/>
              </a:rPr>
              <a:t>‏</a:t>
            </a:r>
            <a:r>
              <a:rPr lang="he-IL" sz="5200" b="1" dirty="0" err="1">
                <a:solidFill>
                  <a:srgbClr val="F2F1EE"/>
                </a:solidFill>
                <a:latin typeface="Arial" pitchFamily="34" charset="0"/>
                <a:cs typeface="Arial" pitchFamily="34" charset="-120"/>
              </a:rPr>
              <a:t>תע"מ</a:t>
            </a:r>
            <a:r>
              <a:rPr lang="he-IL" sz="5200" b="1" dirty="0">
                <a:solidFill>
                  <a:srgbClr val="F2F1EE"/>
                </a:solidFill>
                <a:latin typeface="Arial" pitchFamily="34" charset="0"/>
                <a:cs typeface="Arial" pitchFamily="34" charset="-120"/>
              </a:rPr>
              <a:t> לבנון</a:t>
            </a:r>
            <a:endParaRPr lang="he-IL" sz="5200" dirty="0"/>
          </a:p>
        </p:txBody>
      </p:sp>
      <p:sp>
        <p:nvSpPr>
          <p:cNvPr id="6" name="Title underline"/>
          <p:cNvSpPr/>
          <p:nvPr/>
        </p:nvSpPr>
        <p:spPr>
          <a:xfrm>
            <a:off x="10782000" y="4210050"/>
            <a:ext cx="800000" cy="45720"/>
          </a:xfrm>
          <a:prstGeom prst="rect">
            <a:avLst/>
          </a:prstGeom>
          <a:solidFill>
            <a:srgbClr val="A32026"/>
          </a:solidFill>
          <a:ln/>
        </p:spPr>
        <p:txBody>
          <a:bodyPr/>
          <a:lstStyle/>
          <a:p>
            <a:endParaRPr lang="he-IL"/>
          </a:p>
        </p:txBody>
      </p:sp>
      <p:sp>
        <p:nvSpPr>
          <p:cNvPr id="7" name="Subtitle"/>
          <p:cNvSpPr txBox="1"/>
          <p:nvPr/>
        </p:nvSpPr>
        <p:spPr>
          <a:xfrm>
            <a:off x="4332000" y="4419600"/>
            <a:ext cx="7250000" cy="4000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 rtl="1">
              <a:buNone/>
            </a:pPr>
            <a:r>
              <a:rPr lang="he-IL" sz="1500" dirty="0">
                <a:solidFill>
                  <a:srgbClr val="9A9AA0"/>
                </a:solidFill>
                <a:latin typeface="Arial" pitchFamily="34" charset="0"/>
                <a:cs typeface="Arial" pitchFamily="34" charset="-120"/>
              </a:rPr>
              <a:t>‏נגזרת מפקודת חטיבה 55 | ע"פ פורמט חטיבתי</a:t>
            </a:r>
            <a:endParaRPr lang="he-IL" sz="1500" dirty="0"/>
          </a:p>
        </p:txBody>
      </p:sp>
      <p:sp>
        <p:nvSpPr>
          <p:cNvPr id="8" name="Callout bar"/>
          <p:cNvSpPr/>
          <p:nvPr/>
        </p:nvSpPr>
        <p:spPr>
          <a:xfrm>
            <a:off x="11544000" y="4914900"/>
            <a:ext cx="38100" cy="800100"/>
          </a:xfrm>
          <a:prstGeom prst="rect">
            <a:avLst/>
          </a:prstGeom>
          <a:solidFill>
            <a:srgbClr val="A32026"/>
          </a:solidFill>
          <a:ln/>
        </p:spPr>
        <p:txBody>
          <a:bodyPr/>
          <a:lstStyle/>
          <a:p>
            <a:endParaRPr lang="he-IL"/>
          </a:p>
        </p:txBody>
      </p:sp>
      <p:sp>
        <p:nvSpPr>
          <p:cNvPr id="9" name="Callout text"/>
          <p:cNvSpPr txBox="1"/>
          <p:nvPr/>
        </p:nvSpPr>
        <p:spPr>
          <a:xfrm>
            <a:off x="4332000" y="4919980"/>
            <a:ext cx="7092000" cy="800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 rtl="1">
              <a:spcAft>
                <a:spcPts val="600"/>
              </a:spcAft>
              <a:buNone/>
            </a:pPr>
            <a:r>
              <a:rPr lang="he-IL" sz="1600" b="1" dirty="0">
                <a:solidFill>
                  <a:srgbClr val="F2F1EE"/>
                </a:solidFill>
                <a:latin typeface="Arial" pitchFamily="34" charset="0"/>
                <a:cs typeface="Arial" pitchFamily="34" charset="-120"/>
              </a:rPr>
              <a:t>‏הצגה לאישור חטיבה:‏ 20.9.26 | </a:t>
            </a:r>
          </a:p>
          <a:p>
            <a:pPr marL="0" indent="0" algn="r" rtl="1">
              <a:spcAft>
                <a:spcPts val="600"/>
              </a:spcAft>
              <a:buNone/>
            </a:pPr>
            <a:r>
              <a:rPr lang="he-IL" sz="1300" dirty="0">
                <a:solidFill>
                  <a:srgbClr val="9A9AA0"/>
                </a:solidFill>
                <a:latin typeface="Arial" pitchFamily="34" charset="0"/>
                <a:cs typeface="Arial" pitchFamily="34" charset="-120"/>
              </a:rPr>
              <a:t>‏משתתפים ברמת הגדוד:‏ מג"ד ,</a:t>
            </a:r>
            <a:r>
              <a:rPr lang="he-IL" sz="1300" dirty="0" err="1">
                <a:solidFill>
                  <a:srgbClr val="9A9AA0"/>
                </a:solidFill>
                <a:latin typeface="Arial" pitchFamily="34" charset="0"/>
                <a:cs typeface="Arial" pitchFamily="34" charset="-120"/>
              </a:rPr>
              <a:t>מפ"מ</a:t>
            </a:r>
            <a:r>
              <a:rPr lang="he-IL" sz="1300" dirty="0">
                <a:solidFill>
                  <a:srgbClr val="9A9AA0"/>
                </a:solidFill>
                <a:latin typeface="Arial" pitchFamily="34" charset="0"/>
                <a:cs typeface="Arial" pitchFamily="34" charset="-120"/>
              </a:rPr>
              <a:t> </a:t>
            </a:r>
            <a:endParaRPr lang="he-IL" sz="1300" dirty="0"/>
          </a:p>
        </p:txBody>
      </p:sp>
      <p:sp>
        <p:nvSpPr>
          <p:cNvPr id="10" name="Footer"/>
          <p:cNvSpPr txBox="1"/>
          <p:nvPr/>
        </p:nvSpPr>
        <p:spPr>
          <a:xfrm>
            <a:off x="6482000" y="6396990"/>
            <a:ext cx="5100000" cy="30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he-IL" sz="1050" dirty="0">
                <a:solidFill>
                  <a:srgbClr val="8A8A90"/>
                </a:solidFill>
                <a:latin typeface="Arial" pitchFamily="34" charset="0"/>
                <a:cs typeface="Arial" pitchFamily="34" charset="-120"/>
              </a:rPr>
              <a:t>‏בלמ"ס | טיוטה לאישור מפקד הגדוד</a:t>
            </a:r>
            <a:endParaRPr lang="he-IL" sz="1050" dirty="0"/>
          </a:p>
        </p:txBody>
      </p:sp>
      <p:sp>
        <p:nvSpPr>
          <p:cNvPr id="11" name="Panel slogan"/>
          <p:cNvSpPr txBox="1"/>
          <p:nvPr/>
        </p:nvSpPr>
        <p:spPr>
          <a:xfrm>
            <a:off x="850000" y="4500000"/>
            <a:ext cx="2200000" cy="75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 rtl="1">
              <a:spcAft>
                <a:spcPts val="300"/>
              </a:spcAft>
              <a:buNone/>
            </a:pPr>
            <a:r>
              <a:rPr lang="he-IL" sz="2100" b="1" dirty="0">
                <a:solidFill>
                  <a:srgbClr val="FFFFFF"/>
                </a:solidFill>
                <a:latin typeface="Arial" pitchFamily="34" charset="0"/>
                <a:cs typeface="Arial" pitchFamily="34" charset="-120"/>
              </a:rPr>
              <a:t>‏אין תירוצים!</a:t>
            </a:r>
          </a:p>
          <a:p>
            <a:pPr marL="0" indent="0" algn="ctr" rtl="1">
              <a:buNone/>
            </a:pPr>
            <a:r>
              <a:rPr lang="he-IL" sz="1500" b="1" dirty="0">
                <a:solidFill>
                  <a:srgbClr val="FFFFFF"/>
                </a:solidFill>
                <a:latin typeface="Arial" pitchFamily="34" charset="0"/>
                <a:cs typeface="Arial" pitchFamily="34" charset="-120"/>
              </a:rPr>
              <a:t>‏גדוד 28, חטיבה 55</a:t>
            </a:r>
            <a:endParaRPr lang="he-IL" sz="15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1137392" y="320040"/>
            <a:ext cx="566928" cy="566928"/>
          </a:xfrm>
          <a:prstGeom prst="rect">
            <a:avLst/>
          </a:prstGeom>
          <a:solidFill>
            <a:srgbClr val="9B1B1F"/>
          </a:solidFill>
          <a:ln/>
        </p:spPr>
        <p:txBody>
          <a:bodyPr/>
          <a:lstStyle/>
          <a:p>
            <a:endParaRPr lang="he-IL"/>
          </a:p>
        </p:txBody>
      </p:sp>
      <p:sp>
        <p:nvSpPr>
          <p:cNvPr id="3" name="Text 1"/>
          <p:cNvSpPr txBox="1"/>
          <p:nvPr/>
        </p:nvSpPr>
        <p:spPr>
          <a:xfrm>
            <a:off x="11137392" y="32004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 rtl="1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24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274320"/>
            <a:ext cx="1040587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3000" b="1" dirty="0">
                <a:solidFill>
                  <a:srgbClr val="2626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‏פוש מאמצים - </a:t>
            </a:r>
            <a:r>
              <a:rPr lang="he-IL" sz="3000" b="1" dirty="0">
                <a:solidFill>
                  <a:srgbClr val="2626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r>
              <a:rPr lang="en-US" sz="3000" b="1" dirty="0" err="1">
                <a:solidFill>
                  <a:srgbClr val="2626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ירידה</a:t>
            </a:r>
            <a:r>
              <a:rPr lang="en-US" sz="3000" b="1" dirty="0">
                <a:solidFill>
                  <a:srgbClr val="2626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מהקו</a:t>
            </a:r>
            <a:endParaRPr lang="en-US" sz="30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 rtl="1">
              <a:buNone/>
            </a:pPr>
            <a:r>
              <a:rPr lang="en-US" sz="900" dirty="0">
                <a:solidFill>
                  <a:srgbClr val="9A9AA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‏גדוד 28 | תוכנית ירידה מתע"מ לבנון | בלמ"ס</a:t>
            </a:r>
            <a:endParaRPr lang="en-US" sz="900" dirty="0"/>
          </a:p>
        </p:txBody>
      </p:sp>
      <p:pic>
        <p:nvPicPr>
          <p:cNvPr id="7" name="Image 0" descr="/tmp/claude-0/-home-user-fast-battalion/27bfe9ab-8bf6-55dd-87d9-f6bc8892020b/scratchpad/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7160" y="137160"/>
            <a:ext cx="474329" cy="658368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9537192" y="1463040"/>
            <a:ext cx="2011680" cy="4160520"/>
          </a:xfrm>
          <a:prstGeom prst="roundRect">
            <a:avLst>
              <a:gd name="adj" fmla="val 1558"/>
            </a:avLst>
          </a:prstGeom>
          <a:solidFill>
            <a:srgbClr val="F2F2F2"/>
          </a:solidFill>
          <a:ln/>
        </p:spPr>
        <p:txBody>
          <a:bodyPr/>
          <a:lstStyle/>
          <a:p>
            <a:endParaRPr lang="he-IL"/>
          </a:p>
        </p:txBody>
      </p:sp>
      <p:sp>
        <p:nvSpPr>
          <p:cNvPr id="9" name="Shape 6"/>
          <p:cNvSpPr/>
          <p:nvPr/>
        </p:nvSpPr>
        <p:spPr>
          <a:xfrm>
            <a:off x="9674352" y="1627632"/>
            <a:ext cx="1737360" cy="384048"/>
          </a:xfrm>
          <a:prstGeom prst="roundRect">
            <a:avLst>
              <a:gd name="adj" fmla="val 14286"/>
            </a:avLst>
          </a:prstGeom>
          <a:solidFill>
            <a:srgbClr val="9B1B1F"/>
          </a:solidFill>
          <a:ln/>
        </p:spPr>
        <p:txBody>
          <a:bodyPr/>
          <a:lstStyle/>
          <a:p>
            <a:endParaRPr lang="he-IL"/>
          </a:p>
        </p:txBody>
      </p:sp>
      <p:sp>
        <p:nvSpPr>
          <p:cNvPr id="10" name="Text 7"/>
          <p:cNvSpPr txBox="1"/>
          <p:nvPr/>
        </p:nvSpPr>
        <p:spPr>
          <a:xfrm>
            <a:off x="9674352" y="1627632"/>
            <a:ext cx="17373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rtl="1"/>
            <a:r>
              <a:rPr lang="he-IL" sz="1300" b="1" dirty="0">
                <a:solidFill>
                  <a:srgbClr val="FFFFFF"/>
                </a:solidFill>
                <a:latin typeface="Arial" pitchFamily="34" charset="0"/>
                <a:cs typeface="Arial" pitchFamily="34" charset="-120"/>
              </a:rPr>
              <a:t>שלב א' 13-19.9 בוצע </a:t>
            </a:r>
            <a:endParaRPr lang="en-US" sz="1300" dirty="0"/>
          </a:p>
        </p:txBody>
      </p:sp>
      <p:sp>
        <p:nvSpPr>
          <p:cNvPr id="11" name="Text 8"/>
          <p:cNvSpPr txBox="1"/>
          <p:nvPr/>
        </p:nvSpPr>
        <p:spPr>
          <a:xfrm>
            <a:off x="9646920" y="2103120"/>
            <a:ext cx="1792224" cy="3383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27000" indent="-127000" algn="r" rtl="1">
              <a:spcAft>
                <a:spcPts val="500"/>
              </a:spcAft>
              <a:buSzPct val="100000"/>
              <a:buChar char="•"/>
            </a:pPr>
            <a:r>
              <a:rPr lang="he-IL" sz="1150" dirty="0">
                <a:solidFill>
                  <a:srgbClr val="2626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זיכוי סבב אחרון בתע"מ 15-16.9</a:t>
            </a:r>
          </a:p>
          <a:p>
            <a:pPr marL="127000" indent="-127000" algn="r" rtl="1">
              <a:spcAft>
                <a:spcPts val="500"/>
              </a:spcAft>
              <a:buSzPct val="100000"/>
              <a:buChar char="•"/>
            </a:pPr>
            <a:r>
              <a:rPr lang="he-IL" sz="1150" dirty="0">
                <a:solidFill>
                  <a:srgbClr val="2626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הורדת 10 מכולות ב-17.9</a:t>
            </a:r>
          </a:p>
          <a:p>
            <a:pPr marL="127000" indent="-127000" algn="r" rtl="1">
              <a:spcAft>
                <a:spcPts val="500"/>
              </a:spcAft>
              <a:buSzPct val="100000"/>
              <a:buChar char="•"/>
            </a:pPr>
            <a:r>
              <a:rPr lang="he-IL" sz="1150" dirty="0">
                <a:solidFill>
                  <a:srgbClr val="2626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הורדת סבלי חי"ר</a:t>
            </a:r>
          </a:p>
          <a:p>
            <a:pPr marL="127000" indent="-127000" algn="r" rtl="1">
              <a:spcAft>
                <a:spcPts val="500"/>
              </a:spcAft>
              <a:buSzPct val="100000"/>
              <a:buChar char="•"/>
            </a:pPr>
            <a:r>
              <a:rPr lang="he-IL" sz="1150" dirty="0">
                <a:solidFill>
                  <a:srgbClr val="2626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הורדת 6 האמרים (2 במנוף של 71)</a:t>
            </a:r>
          </a:p>
          <a:p>
            <a:pPr marL="127000" indent="-127000" algn="r" rtl="1">
              <a:spcAft>
                <a:spcPts val="500"/>
              </a:spcAft>
              <a:buSzPct val="100000"/>
              <a:buChar char="•"/>
            </a:pPr>
            <a:r>
              <a:rPr lang="he-IL" sz="1150" dirty="0">
                <a:solidFill>
                  <a:srgbClr val="2626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דילול אמצעים ותחמושת נפיצה</a:t>
            </a:r>
          </a:p>
          <a:p>
            <a:pPr marL="127000" indent="-127000" algn="r" rtl="1">
              <a:spcAft>
                <a:spcPts val="500"/>
              </a:spcAft>
              <a:buSzPct val="100000"/>
              <a:buChar char="•"/>
            </a:pPr>
            <a:r>
              <a:rPr lang="he-IL" sz="1150" dirty="0">
                <a:solidFill>
                  <a:srgbClr val="2626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הכנת אמצעים לזיכוי הימ"ח - ליפקין</a:t>
            </a:r>
          </a:p>
        </p:txBody>
      </p:sp>
      <p:sp>
        <p:nvSpPr>
          <p:cNvPr id="12" name="Shape 9"/>
          <p:cNvSpPr/>
          <p:nvPr/>
        </p:nvSpPr>
        <p:spPr>
          <a:xfrm>
            <a:off x="2770632" y="1463040"/>
            <a:ext cx="6583680" cy="4160520"/>
          </a:xfrm>
          <a:prstGeom prst="roundRect">
            <a:avLst>
              <a:gd name="adj" fmla="val 1558"/>
            </a:avLst>
          </a:prstGeom>
          <a:solidFill>
            <a:srgbClr val="F2F2F2"/>
          </a:solidFill>
          <a:ln/>
        </p:spPr>
        <p:txBody>
          <a:bodyPr/>
          <a:lstStyle/>
          <a:p>
            <a:endParaRPr lang="he-IL"/>
          </a:p>
        </p:txBody>
      </p:sp>
      <p:sp>
        <p:nvSpPr>
          <p:cNvPr id="13" name="Shape 10"/>
          <p:cNvSpPr/>
          <p:nvPr/>
        </p:nvSpPr>
        <p:spPr>
          <a:xfrm>
            <a:off x="4690872" y="1627632"/>
            <a:ext cx="2743200" cy="384048"/>
          </a:xfrm>
          <a:prstGeom prst="roundRect">
            <a:avLst>
              <a:gd name="adj" fmla="val 14286"/>
            </a:avLst>
          </a:prstGeom>
          <a:solidFill>
            <a:srgbClr val="9B1B1F"/>
          </a:solidFill>
          <a:ln/>
        </p:spPr>
        <p:txBody>
          <a:bodyPr/>
          <a:lstStyle/>
          <a:p>
            <a:endParaRPr lang="he-IL"/>
          </a:p>
        </p:txBody>
      </p:sp>
      <p:sp>
        <p:nvSpPr>
          <p:cNvPr id="14" name="Text 11"/>
          <p:cNvSpPr txBox="1"/>
          <p:nvPr/>
        </p:nvSpPr>
        <p:spPr>
          <a:xfrm>
            <a:off x="4690872" y="1627632"/>
            <a:ext cx="2743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rtl="1"/>
            <a:r>
              <a:rPr lang="he-IL" sz="1300" b="1" dirty="0">
                <a:solidFill>
                  <a:srgbClr val="FFFFFF"/>
                </a:solidFill>
                <a:latin typeface="Arial" pitchFamily="34" charset="0"/>
                <a:cs typeface="Arial" pitchFamily="34" charset="-120"/>
              </a:rPr>
              <a:t>שלב ב' 20-24.9 | מאמץ עיקרי</a:t>
            </a:r>
            <a:endParaRPr lang="en-US" sz="1300" dirty="0"/>
          </a:p>
        </p:txBody>
      </p:sp>
      <p:sp>
        <p:nvSpPr>
          <p:cNvPr id="15" name="Text 12"/>
          <p:cNvSpPr txBox="1"/>
          <p:nvPr/>
        </p:nvSpPr>
        <p:spPr>
          <a:xfrm>
            <a:off x="6108192" y="2103120"/>
            <a:ext cx="3108960" cy="3383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rtl="1">
              <a:spcAft>
                <a:spcPts val="600"/>
              </a:spcAft>
              <a:buNone/>
            </a:pPr>
            <a:r>
              <a:rPr lang="he-IL" sz="1250" b="1" dirty="0">
                <a:solidFill>
                  <a:srgbClr val="9F22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הובלות וניוד</a:t>
            </a:r>
          </a:p>
          <a:p>
            <a:pPr marL="127000" indent="-127000" algn="r" rtl="1">
              <a:spcAft>
                <a:spcPts val="500"/>
              </a:spcAft>
              <a:buSzPct val="100000"/>
              <a:buChar char="•"/>
            </a:pPr>
            <a:r>
              <a:rPr lang="he-IL" sz="1150" dirty="0">
                <a:solidFill>
                  <a:srgbClr val="2626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האמרים מחצרות יסף למטמנת עברון - העמסה ע"ג מובילים עם ציוד קשר</a:t>
            </a:r>
          </a:p>
          <a:p>
            <a:pPr marL="127000" indent="-127000" algn="r" rtl="1">
              <a:spcAft>
                <a:spcPts val="500"/>
              </a:spcAft>
              <a:buSzPct val="100000"/>
              <a:buChar char="•"/>
            </a:pPr>
            <a:r>
              <a:rPr lang="he-IL" sz="1150" b="1" dirty="0">
                <a:solidFill>
                  <a:srgbClr val="2626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העמסה: רכבי פתן - פתן | כל שאר הרכבים - פלס"מ</a:t>
            </a:r>
          </a:p>
          <a:p>
            <a:pPr marL="127000" indent="-127000" algn="r" rtl="1">
              <a:spcAft>
                <a:spcPts val="500"/>
              </a:spcAft>
              <a:buSzPct val="100000"/>
              <a:buChar char="•"/>
            </a:pPr>
            <a:r>
              <a:rPr lang="he-IL" sz="1150" dirty="0">
                <a:solidFill>
                  <a:srgbClr val="2626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פירוק ציוד הקשר בבילו</a:t>
            </a:r>
          </a:p>
          <a:p>
            <a:pPr marL="127000" indent="-127000" algn="r" rtl="1">
              <a:spcAft>
                <a:spcPts val="500"/>
              </a:spcAft>
              <a:buSzPct val="100000"/>
              <a:buChar char="•"/>
            </a:pPr>
            <a:r>
              <a:rPr lang="he-IL" sz="1150" dirty="0">
                <a:solidFill>
                  <a:srgbClr val="2626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ליווי למשאיות הנוסעות עם מכשירי קשר</a:t>
            </a:r>
          </a:p>
          <a:p>
            <a:pPr marL="127000" indent="-127000" algn="r" rtl="1">
              <a:spcAft>
                <a:spcPts val="500"/>
              </a:spcAft>
              <a:buSzPct val="100000"/>
              <a:buChar char="•"/>
            </a:pPr>
            <a:r>
              <a:rPr lang="he-IL" sz="1150" dirty="0">
                <a:solidFill>
                  <a:srgbClr val="2626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הורדת משאיות בנסיעה | מכולה + מלגזה</a:t>
            </a:r>
          </a:p>
          <a:p>
            <a:pPr marL="127000" indent="-127000" algn="r" rtl="1">
              <a:spcAft>
                <a:spcPts val="500"/>
              </a:spcAft>
              <a:buSzPct val="100000"/>
              <a:buChar char="•"/>
            </a:pPr>
            <a:r>
              <a:rPr lang="he-IL" sz="1150" dirty="0">
                <a:solidFill>
                  <a:srgbClr val="2626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תובלתיות 23.9 - העמסת תיקי לוחמים בחצרות יסף לבילו</a:t>
            </a:r>
          </a:p>
          <a:p>
            <a:pPr marL="127000" indent="-127000" algn="r" rtl="1">
              <a:spcAft>
                <a:spcPts val="500"/>
              </a:spcAft>
              <a:buSzPct val="100000"/>
              <a:buChar char="•"/>
            </a:pPr>
            <a:r>
              <a:rPr lang="he-IL" sz="1150" dirty="0">
                <a:solidFill>
                  <a:srgbClr val="2626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תובלתית למשטח שלומית - ציוד פלוגה ב'</a:t>
            </a:r>
          </a:p>
        </p:txBody>
      </p:sp>
      <p:sp>
        <p:nvSpPr>
          <p:cNvPr id="104" name="Text 12L"/>
          <p:cNvSpPr txBox="1"/>
          <p:nvPr/>
        </p:nvSpPr>
        <p:spPr>
          <a:xfrm>
            <a:off x="2907792" y="2103120"/>
            <a:ext cx="3063240" cy="3383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rtl="1">
              <a:spcAft>
                <a:spcPts val="600"/>
              </a:spcAft>
              <a:buNone/>
            </a:pPr>
            <a:r>
              <a:rPr lang="he-IL" sz="1250" b="1" dirty="0">
                <a:solidFill>
                  <a:srgbClr val="9F22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זיכוי ומנהלה - חצרות יסף</a:t>
            </a:r>
          </a:p>
          <a:p>
            <a:pPr marL="127000" indent="-127000" algn="r" rtl="1">
              <a:spcAft>
                <a:spcPts val="500"/>
              </a:spcAft>
              <a:buSzPct val="100000"/>
              <a:buChar char="•"/>
            </a:pPr>
            <a:r>
              <a:rPr lang="he-IL" sz="1150" dirty="0">
                <a:solidFill>
                  <a:srgbClr val="2626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זיכוי כלל חיילי הגדוד בחצרות יסף כולל מסדרים</a:t>
            </a:r>
          </a:p>
          <a:p>
            <a:pPr marL="127000" indent="-127000" algn="r" rtl="1">
              <a:spcAft>
                <a:spcPts val="500"/>
              </a:spcAft>
              <a:buSzPct val="100000"/>
              <a:buChar char="•"/>
            </a:pPr>
            <a:r>
              <a:rPr lang="he-IL" sz="1150" b="1" dirty="0">
                <a:solidFill>
                  <a:srgbClr val="2626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חיילי פלוגה ב' מגיעים לזיכוי נשקים ואמר"לים בחצרות יסף</a:t>
            </a:r>
          </a:p>
          <a:p>
            <a:pPr marL="127000" indent="-127000" algn="r" rtl="1">
              <a:spcAft>
                <a:spcPts val="500"/>
              </a:spcAft>
              <a:buSzPct val="100000"/>
              <a:buChar char="•"/>
            </a:pPr>
            <a:r>
              <a:rPr lang="he-IL" sz="1150" dirty="0">
                <a:solidFill>
                  <a:srgbClr val="2626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הורדת כלל האמצעים למחנה ליפקין</a:t>
            </a:r>
          </a:p>
          <a:p>
            <a:pPr marL="127000" indent="-127000" algn="r" rtl="1">
              <a:spcAft>
                <a:spcPts val="500"/>
              </a:spcAft>
              <a:buSzPct val="100000"/>
              <a:buChar char="•"/>
            </a:pPr>
            <a:r>
              <a:rPr lang="he-IL" sz="1150" dirty="0">
                <a:solidFill>
                  <a:srgbClr val="2626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דיווח ירוק צל"מ במחנה ליפקין</a:t>
            </a:r>
          </a:p>
          <a:p>
            <a:pPr marL="127000" indent="-127000" algn="r" rtl="1">
              <a:spcAft>
                <a:spcPts val="500"/>
              </a:spcAft>
              <a:buSzPct val="100000"/>
              <a:buChar char="•"/>
            </a:pPr>
            <a:r>
              <a:rPr lang="he-IL" sz="1150" dirty="0">
                <a:solidFill>
                  <a:srgbClr val="2626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העברת חתימות וזיכוי חצרות יסף</a:t>
            </a:r>
          </a:p>
          <a:p>
            <a:pPr marL="127000" indent="-127000" algn="r" rtl="1">
              <a:spcAft>
                <a:spcPts val="500"/>
              </a:spcAft>
              <a:buSzPct val="100000"/>
              <a:buChar char="•"/>
            </a:pPr>
            <a:r>
              <a:rPr lang="he-IL" sz="1150" dirty="0">
                <a:solidFill>
                  <a:srgbClr val="2626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זיכוי סמים חטיבתי</a:t>
            </a:r>
          </a:p>
          <a:p>
            <a:pPr marL="127000" indent="-127000" algn="r" rtl="1">
              <a:spcAft>
                <a:spcPts val="500"/>
              </a:spcAft>
              <a:buSzPct val="100000"/>
              <a:buChar char="•"/>
            </a:pPr>
            <a:r>
              <a:rPr lang="he-IL" sz="1150" dirty="0">
                <a:solidFill>
                  <a:srgbClr val="2626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העברת המקל לגדוד גפן</a:t>
            </a:r>
          </a:p>
        </p:txBody>
      </p:sp>
      <p:sp>
        <p:nvSpPr>
          <p:cNvPr id="20" name="Shape 17"/>
          <p:cNvSpPr/>
          <p:nvPr/>
        </p:nvSpPr>
        <p:spPr>
          <a:xfrm>
            <a:off x="548640" y="5806440"/>
            <a:ext cx="10588752" cy="566928"/>
          </a:xfrm>
          <a:prstGeom prst="roundRect">
            <a:avLst>
              <a:gd name="adj" fmla="val 9677"/>
            </a:avLst>
          </a:prstGeom>
          <a:solidFill>
            <a:srgbClr val="6E1214"/>
          </a:solidFill>
          <a:ln/>
        </p:spPr>
        <p:txBody>
          <a:bodyPr/>
          <a:lstStyle/>
          <a:p>
            <a:endParaRPr lang="he-IL"/>
          </a:p>
        </p:txBody>
      </p:sp>
      <p:sp>
        <p:nvSpPr>
          <p:cNvPr id="21" name="Text 18"/>
          <p:cNvSpPr txBox="1"/>
          <p:nvPr/>
        </p:nvSpPr>
        <p:spPr>
          <a:xfrm>
            <a:off x="777240" y="5806440"/>
            <a:ext cx="101772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4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‏מצב סיום גדודי: </a:t>
            </a:r>
            <a:r>
              <a:rPr lang="en-US" sz="1450" b="1" dirty="0" err="1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כלל</a:t>
            </a:r>
            <a:r>
              <a:rPr lang="en-US" sz="14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r>
              <a:rPr lang="en-US" sz="1450" b="1" dirty="0" err="1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האמצעים</a:t>
            </a:r>
            <a:r>
              <a:rPr lang="en-US" sz="14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r>
              <a:rPr lang="he-IL" sz="14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מזוכים</a:t>
            </a:r>
            <a:r>
              <a:rPr lang="en-US" sz="14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r>
              <a:rPr lang="en-US" sz="1450" b="1" dirty="0" err="1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ומאופסנים</a:t>
            </a:r>
            <a:r>
              <a:rPr lang="en-US" sz="14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| בונקר גדודי ספור ומשולט | הגדוד ערוך למעבר לכוננות גדוד מהיר</a:t>
            </a:r>
            <a:endParaRPr lang="en-US" sz="1450" dirty="0"/>
          </a:p>
        </p:txBody>
      </p:sp>
      <p:sp>
        <p:nvSpPr>
          <p:cNvPr id="100" name="Stage C bg"/>
          <p:cNvSpPr/>
          <p:nvPr/>
        </p:nvSpPr>
        <p:spPr>
          <a:xfrm>
            <a:off x="530352" y="1463040"/>
            <a:ext cx="2011680" cy="4160520"/>
          </a:xfrm>
          <a:prstGeom prst="roundRect">
            <a:avLst>
              <a:gd name="adj" fmla="val 5217"/>
            </a:avLst>
          </a:prstGeom>
          <a:solidFill>
            <a:srgbClr val="F2F2F2"/>
          </a:solidFill>
          <a:ln/>
        </p:spPr>
        <p:txBody>
          <a:bodyPr/>
          <a:lstStyle/>
          <a:p>
            <a:endParaRPr lang="he-IL"/>
          </a:p>
        </p:txBody>
      </p:sp>
      <p:sp>
        <p:nvSpPr>
          <p:cNvPr id="101" name="Stage C pill"/>
          <p:cNvSpPr/>
          <p:nvPr/>
        </p:nvSpPr>
        <p:spPr>
          <a:xfrm>
            <a:off x="667512" y="1627632"/>
            <a:ext cx="1737360" cy="384048"/>
          </a:xfrm>
          <a:prstGeom prst="roundRect">
            <a:avLst>
              <a:gd name="adj" fmla="val 13333"/>
            </a:avLst>
          </a:prstGeom>
          <a:solidFill>
            <a:srgbClr val="9B1B1F"/>
          </a:solidFill>
          <a:ln/>
        </p:spPr>
        <p:txBody>
          <a:bodyPr/>
          <a:lstStyle/>
          <a:p>
            <a:endParaRPr lang="he-IL"/>
          </a:p>
        </p:txBody>
      </p:sp>
      <p:sp>
        <p:nvSpPr>
          <p:cNvPr id="102" name="Stage C pill text"/>
          <p:cNvSpPr txBox="1"/>
          <p:nvPr/>
        </p:nvSpPr>
        <p:spPr>
          <a:xfrm>
            <a:off x="667512" y="1627632"/>
            <a:ext cx="17373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rtl="1"/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‏</a:t>
            </a:r>
            <a:r>
              <a:rPr lang="en-US" sz="1300" b="1" dirty="0" err="1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שלב</a:t>
            </a: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ג</a:t>
            </a:r>
            <a:r>
              <a:rPr lang="he-IL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'</a:t>
            </a: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- מאסף 4-15.10</a:t>
            </a:r>
            <a:endParaRPr lang="en-US" sz="1300" dirty="0"/>
          </a:p>
        </p:txBody>
      </p:sp>
      <p:sp>
        <p:nvSpPr>
          <p:cNvPr id="103" name="Stage C text"/>
          <p:cNvSpPr txBox="1"/>
          <p:nvPr/>
        </p:nvSpPr>
        <p:spPr>
          <a:xfrm>
            <a:off x="640080" y="2103120"/>
            <a:ext cx="1792224" cy="3383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27000" indent="-127000" algn="r" rtl="1">
              <a:spcAft>
                <a:spcPts val="500"/>
              </a:spcAft>
              <a:buSzPct val="100000"/>
              <a:buChar char="•"/>
            </a:pPr>
            <a:r>
              <a:rPr lang="he-IL" sz="1150" dirty="0">
                <a:solidFill>
                  <a:srgbClr val="2626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ימי עיבוד 4-5.10</a:t>
            </a:r>
          </a:p>
          <a:p>
            <a:pPr marL="127000" indent="-127000" algn="r" rtl="1">
              <a:spcAft>
                <a:spcPts val="500"/>
              </a:spcAft>
              <a:buSzPct val="100000"/>
              <a:buChar char="•"/>
            </a:pPr>
            <a:r>
              <a:rPr lang="he-IL" sz="1150" dirty="0">
                <a:solidFill>
                  <a:srgbClr val="2626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מסדרים פלוגתיים 6-8.10</a:t>
            </a:r>
          </a:p>
          <a:p>
            <a:pPr marL="127000" indent="-127000" algn="r" rtl="1">
              <a:spcAft>
                <a:spcPts val="500"/>
              </a:spcAft>
              <a:buSzPct val="100000"/>
              <a:buChar char="•"/>
            </a:pPr>
            <a:r>
              <a:rPr lang="he-IL" sz="1150" dirty="0">
                <a:solidFill>
                  <a:srgbClr val="2626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שבוע מאסף ימ"ח גדודי 11-15.10</a:t>
            </a:r>
          </a:p>
          <a:p>
            <a:pPr marL="127000" indent="-127000" algn="r" rtl="1">
              <a:spcAft>
                <a:spcPts val="500"/>
              </a:spcAft>
              <a:buSzPct val="100000"/>
              <a:buChar char="•"/>
            </a:pPr>
            <a:r>
              <a:rPr lang="he-IL" sz="1150" dirty="0">
                <a:solidFill>
                  <a:srgbClr val="2626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ספירות צל"מ, תחמושת וסמים</a:t>
            </a:r>
          </a:p>
          <a:p>
            <a:pPr marL="127000" indent="-127000" algn="r" rtl="1">
              <a:spcAft>
                <a:spcPts val="500"/>
              </a:spcAft>
              <a:buSzPct val="100000"/>
              <a:buChar char="•"/>
            </a:pPr>
            <a:r>
              <a:rPr lang="he-IL" sz="1150" dirty="0">
                <a:solidFill>
                  <a:srgbClr val="2626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ארמו"ן וכנות נשק</a:t>
            </a:r>
          </a:p>
          <a:p>
            <a:pPr marL="127000" indent="-127000" algn="r" rtl="1">
              <a:spcAft>
                <a:spcPts val="500"/>
              </a:spcAft>
              <a:buSzPct val="100000"/>
              <a:buChar char="•"/>
            </a:pPr>
            <a:r>
              <a:rPr lang="he-IL" sz="1150" dirty="0">
                <a:solidFill>
                  <a:srgbClr val="2626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סגירת ימ"ח ומסדר מח"ט 15.10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1137392" y="320040"/>
            <a:ext cx="566928" cy="566928"/>
          </a:xfrm>
          <a:prstGeom prst="rect">
            <a:avLst/>
          </a:prstGeom>
          <a:solidFill>
            <a:srgbClr val="9B1B1F"/>
          </a:solidFill>
          <a:ln/>
        </p:spPr>
        <p:txBody>
          <a:bodyPr/>
          <a:lstStyle/>
          <a:p>
            <a:endParaRPr lang="he-IL"/>
          </a:p>
        </p:txBody>
      </p:sp>
      <p:sp>
        <p:nvSpPr>
          <p:cNvPr id="3" name="Text 1"/>
          <p:cNvSpPr txBox="1"/>
          <p:nvPr/>
        </p:nvSpPr>
        <p:spPr>
          <a:xfrm>
            <a:off x="11137392" y="32004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 rtl="1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24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274320"/>
            <a:ext cx="1040587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3000" b="1" dirty="0">
                <a:solidFill>
                  <a:srgbClr val="2626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‏גאנט גדודי - ספטמבר-אוקטובר</a:t>
            </a:r>
            <a:endParaRPr lang="en-US" sz="30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 rtl="1">
              <a:buNone/>
            </a:pPr>
            <a:r>
              <a:rPr lang="en-US" sz="900" dirty="0">
                <a:solidFill>
                  <a:srgbClr val="9A9AA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‏גדוד 28 | תוכנית ירידה מתע"מ לבנון | בלמ"ס</a:t>
            </a:r>
            <a:endParaRPr lang="en-US" sz="900" dirty="0"/>
          </a:p>
        </p:txBody>
      </p:sp>
      <p:pic>
        <p:nvPicPr>
          <p:cNvPr id="7" name="Image 0" descr="/tmp/claude-0/-home-user-fast-battalion/27bfe9ab-8bf6-55dd-87d9-f6bc8892020b/scratchpad/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7160" y="137160"/>
            <a:ext cx="474329" cy="658368"/>
          </a:xfrm>
          <a:prstGeom prst="rect">
            <a:avLst/>
          </a:prstGeom>
        </p:spPr>
      </p:pic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940290523"/>
              </p:ext>
            </p:extLst>
          </p:nvPr>
        </p:nvGraphicFramePr>
        <p:xfrm>
          <a:off x="381000" y="1060704"/>
          <a:ext cx="11259312" cy="4627270"/>
        </p:xfrm>
        <a:graphic>
          <a:graphicData uri="http://schemas.openxmlformats.org/drawingml/2006/table">
            <a:tbl>
              <a:tblPr/>
              <a:tblGrid>
                <a:gridCol w="1509021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509021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509021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509021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509021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509021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1509021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696165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324011">
                <a:tc>
                  <a:txBody>
                    <a:bodyPr/>
                    <a:lstStyle/>
                    <a:p>
                      <a:pPr marL="0" indent="0" algn="ctr" rtl="1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‏ש'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C9C9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9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9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9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6262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rtl="1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‏ו'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C9C9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9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9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9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6262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rtl="1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‏ה'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C9C9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9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9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9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6262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rtl="1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‏ד'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C9C9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9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9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9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6262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rtl="1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‏ג'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C9C9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9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9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9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6262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rtl="1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‏ב'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C9C9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9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9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9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6262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rtl="1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‏א'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C9C9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9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9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9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6262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rtl="1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‏שבוע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C9C9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9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9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9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6262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867886">
                <a:tc>
                  <a:txBody>
                    <a:bodyPr/>
                    <a:lstStyle/>
                    <a:p>
                      <a:pPr marL="0" indent="0" algn="r" rtl="1">
                        <a:buNone/>
                      </a:pPr>
                      <a:r>
                        <a:rPr lang="en-US" sz="950" b="1" dirty="0">
                          <a:solidFill>
                            <a:srgbClr val="9B1B1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‪19.9‬‏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9525" cap="flat" cmpd="sng" algn="ctr">
                      <a:solidFill>
                        <a:srgbClr val="C9C9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9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9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9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 rtl="1">
                        <a:buNone/>
                      </a:pPr>
                      <a:r>
                        <a:rPr lang="en-US" sz="950" b="1" dirty="0">
                          <a:solidFill>
                            <a:srgbClr val="9B1B1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‪18.9‬‏</a:t>
                      </a:r>
                      <a:endParaRPr lang="he-IL" sz="950" b="1" dirty="0">
                        <a:solidFill>
                          <a:srgbClr val="9B1B1F"/>
                        </a:solidFill>
                        <a:latin typeface="Arial" pitchFamily="34" charset="0"/>
                        <a:ea typeface="Arial" pitchFamily="34" charset="-122"/>
                        <a:cs typeface="Arial" pitchFamily="34" charset="-120"/>
                      </a:endParaRPr>
                    </a:p>
                    <a:p>
                      <a:pPr marL="0" indent="0" algn="r" rtl="1">
                        <a:buNone/>
                      </a:pPr>
                      <a:r>
                        <a:rPr lang="he-IL" sz="950" b="1" dirty="0">
                          <a:solidFill>
                            <a:srgbClr val="9B1B1F"/>
                          </a:solidFill>
                          <a:latin typeface="Arial" pitchFamily="34" charset="0"/>
                          <a:ea typeface="Arial" charset="0"/>
                          <a:cs typeface="Arial" pitchFamily="34" charset="-120"/>
                        </a:rPr>
                        <a:t>הורדת נגררים של הפלוגות </a:t>
                      </a:r>
                      <a:r>
                        <a:rPr lang="he-IL" sz="950" b="1" dirty="0" err="1">
                          <a:solidFill>
                            <a:srgbClr val="9B1B1F"/>
                          </a:solidFill>
                          <a:latin typeface="Arial" pitchFamily="34" charset="0"/>
                          <a:ea typeface="Arial" charset="0"/>
                          <a:cs typeface="Arial" pitchFamily="34" charset="-120"/>
                        </a:rPr>
                        <a:t>לבילו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9525" cap="flat" cmpd="sng" algn="ctr">
                      <a:solidFill>
                        <a:srgbClr val="C9C9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9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9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9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 rtl="1">
                        <a:buNone/>
                      </a:pPr>
                      <a:r>
                        <a:rPr lang="en-US" sz="950" b="1" dirty="0">
                          <a:solidFill>
                            <a:srgbClr val="9B1B1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‪17.9‬‏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marL="0" indent="0" algn="r" rtl="1">
                        <a:buNone/>
                      </a:pPr>
                      <a:r>
                        <a:rPr lang="en-US" sz="800" dirty="0">
                          <a:solidFill>
                            <a:srgbClr val="2626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‏חצרות יסף במינימום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marL="0" indent="0" algn="r" rtl="1">
                        <a:buNone/>
                      </a:pPr>
                      <a:r>
                        <a:rPr lang="en-US" sz="800" dirty="0">
                          <a:solidFill>
                            <a:srgbClr val="2626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‏ניוד מכולות/רכבים לבילו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marL="0" indent="0" algn="r" rtl="1">
                        <a:buNone/>
                      </a:pPr>
                      <a:r>
                        <a:rPr lang="en-US" sz="800" dirty="0">
                          <a:solidFill>
                            <a:srgbClr val="2626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‏סד"כ חטיבתי חצוי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marL="0" indent="0" algn="r" rtl="1">
                        <a:buNone/>
                      </a:pPr>
                      <a:r>
                        <a:rPr lang="en-US" sz="800" dirty="0">
                          <a:solidFill>
                            <a:srgbClr val="2626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‏הזמנת תובלה - הורדת תיקים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9525" cap="flat" cmpd="sng" algn="ctr">
                      <a:solidFill>
                        <a:srgbClr val="C9C9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9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9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9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 rtl="1">
                        <a:buNone/>
                      </a:pPr>
                      <a:r>
                        <a:rPr lang="en-US" sz="950" b="1" dirty="0">
                          <a:solidFill>
                            <a:srgbClr val="9B1B1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‪16.9‬‏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marL="0" indent="0" algn="r" rtl="1">
                        <a:buNone/>
                      </a:pPr>
                      <a:r>
                        <a:rPr lang="en-US" sz="800" b="1" u="sng" dirty="0">
                          <a:solidFill>
                            <a:srgbClr val="2626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‏</a:t>
                      </a:r>
                      <a:r>
                        <a:rPr lang="he-IL" sz="800" b="1" u="sng" dirty="0">
                          <a:solidFill>
                            <a:srgbClr val="2626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זיכוי חצי גדוד </a:t>
                      </a:r>
                      <a:endParaRPr lang="en-US" sz="1200" b="1" u="sng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marL="0" indent="0" algn="r" rtl="1">
                        <a:buNone/>
                      </a:pPr>
                      <a:r>
                        <a:rPr lang="en-US" sz="800" dirty="0">
                          <a:solidFill>
                            <a:srgbClr val="2626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‏מסדר ספירת תיקים - מסיימי תעסוקה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9525" cap="flat" cmpd="sng" algn="ctr">
                      <a:solidFill>
                        <a:srgbClr val="C9C9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9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9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9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 rtl="1">
                        <a:buNone/>
                      </a:pPr>
                      <a:r>
                        <a:rPr lang="en-US" sz="950" b="1" dirty="0">
                          <a:solidFill>
                            <a:srgbClr val="9B1B1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‪15.9‬‏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marL="0" indent="0" algn="r" rtl="1">
                        <a:buNone/>
                      </a:pPr>
                      <a:r>
                        <a:rPr lang="en-US" sz="800" dirty="0">
                          <a:solidFill>
                            <a:srgbClr val="2626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‏דילול אמצעים + סד"כ גדודים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9525" cap="flat" cmpd="sng" algn="ctr">
                      <a:solidFill>
                        <a:srgbClr val="C9C9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9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9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9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 rtl="1">
                        <a:buNone/>
                      </a:pPr>
                      <a:r>
                        <a:rPr lang="en-US" sz="950" b="1" dirty="0">
                          <a:solidFill>
                            <a:srgbClr val="9B1B1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‪14.9‬‏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marL="0" indent="0" algn="r" rtl="1">
                        <a:buNone/>
                      </a:pPr>
                      <a:r>
                        <a:rPr lang="en-US" sz="800" dirty="0">
                          <a:solidFill>
                            <a:srgbClr val="2626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‏דילול אמצעים - חצרות יסף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9525" cap="flat" cmpd="sng" algn="ctr">
                      <a:solidFill>
                        <a:srgbClr val="C9C9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9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9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9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 rtl="1">
                        <a:buNone/>
                      </a:pPr>
                      <a:r>
                        <a:rPr lang="en-US" sz="950" b="1" dirty="0">
                          <a:solidFill>
                            <a:srgbClr val="2626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‪13.9‬‏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marL="0" indent="0" algn="r" rtl="1">
                        <a:buNone/>
                      </a:pPr>
                      <a:r>
                        <a:rPr lang="en-US" sz="800" dirty="0">
                          <a:solidFill>
                            <a:srgbClr val="2626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‏ראש השנה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9525" cap="flat" cmpd="sng" algn="ctr">
                      <a:solidFill>
                        <a:srgbClr val="C9C9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9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9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9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08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rtl="1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38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C9C9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9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9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9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8585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188689">
                <a:tc>
                  <a:txBody>
                    <a:bodyPr/>
                    <a:lstStyle/>
                    <a:p>
                      <a:pPr marL="0" indent="0" algn="r" rtl="1">
                        <a:buNone/>
                      </a:pPr>
                      <a:r>
                        <a:rPr lang="en-US" sz="950" b="1" dirty="0">
                          <a:solidFill>
                            <a:srgbClr val="2626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‪26.9‬‏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marL="0" indent="0" algn="r" rtl="1">
                        <a:buNone/>
                      </a:pPr>
                      <a:r>
                        <a:rPr lang="en-US" sz="800" dirty="0">
                          <a:solidFill>
                            <a:srgbClr val="2626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‏סוכות א'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9525" cap="flat" cmpd="sng" algn="ctr">
                      <a:solidFill>
                        <a:srgbClr val="C9C9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9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9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9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08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 rtl="1">
                        <a:buNone/>
                      </a:pPr>
                      <a:r>
                        <a:rPr lang="en-US" sz="950" b="1" dirty="0">
                          <a:solidFill>
                            <a:srgbClr val="2626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‪25.9‬‏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marL="0" indent="0" algn="r" rtl="1">
                        <a:buNone/>
                      </a:pPr>
                      <a:r>
                        <a:rPr lang="en-US" sz="800" dirty="0">
                          <a:solidFill>
                            <a:srgbClr val="2626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‏סוכות א'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9525" cap="flat" cmpd="sng" algn="ctr">
                      <a:solidFill>
                        <a:srgbClr val="C9C9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9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9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9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08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 rtl="1">
                        <a:buNone/>
                      </a:pPr>
                      <a:r>
                        <a:rPr lang="en-US" sz="950" b="1" dirty="0">
                          <a:solidFill>
                            <a:srgbClr val="9B1B1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‪24.9‬‏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marL="0" indent="0" algn="r" rtl="1">
                        <a:buNone/>
                      </a:pPr>
                      <a:r>
                        <a:rPr lang="en-US" sz="800" dirty="0">
                          <a:solidFill>
                            <a:srgbClr val="2626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‏</a:t>
                      </a:r>
                      <a:r>
                        <a:rPr lang="he-IL" sz="1000" dirty="0">
                          <a:solidFill>
                            <a:srgbClr val="26262B"/>
                          </a:solidFill>
                          <a:latin typeface="Arial" pitchFamily="34" charset="0"/>
                          <a:ea typeface="Arial" charset="0"/>
                          <a:cs typeface="Arial" pitchFamily="34" charset="-120"/>
                        </a:rPr>
                        <a:t>סידור </a:t>
                      </a:r>
                      <a:r>
                        <a:rPr lang="he-IL" sz="1000" dirty="0" err="1">
                          <a:solidFill>
                            <a:srgbClr val="26262B"/>
                          </a:solidFill>
                          <a:latin typeface="Arial" pitchFamily="34" charset="0"/>
                          <a:ea typeface="Arial" charset="0"/>
                          <a:cs typeface="Arial" pitchFamily="34" charset="-120"/>
                        </a:rPr>
                        <a:t>הימ"ח</a:t>
                      </a:r>
                      <a:r>
                        <a:rPr lang="he-IL" sz="1000" dirty="0">
                          <a:solidFill>
                            <a:srgbClr val="26262B"/>
                          </a:solidFill>
                          <a:latin typeface="Arial" pitchFamily="34" charset="0"/>
                          <a:ea typeface="Arial" charset="0"/>
                          <a:cs typeface="Arial" pitchFamily="34" charset="-120"/>
                        </a:rPr>
                        <a:t> לקראת מאסף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marL="0" indent="0" algn="r" rtl="1">
                        <a:buNone/>
                      </a:pPr>
                      <a:r>
                        <a:rPr lang="en-US" sz="1000" dirty="0">
                          <a:solidFill>
                            <a:srgbClr val="2626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‏זיכוי </a:t>
                      </a:r>
                      <a:r>
                        <a:rPr lang="en-US" sz="1000" dirty="0" err="1">
                          <a:solidFill>
                            <a:srgbClr val="2626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חצרות</a:t>
                      </a:r>
                      <a:r>
                        <a:rPr lang="en-US" sz="1000" dirty="0">
                          <a:solidFill>
                            <a:srgbClr val="2626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 </a:t>
                      </a:r>
                      <a:r>
                        <a:rPr lang="en-US" sz="1000" dirty="0" err="1">
                          <a:solidFill>
                            <a:srgbClr val="2626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יסף</a:t>
                      </a:r>
                      <a:r>
                        <a:rPr lang="en-US" sz="1000" dirty="0">
                          <a:solidFill>
                            <a:srgbClr val="2626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 </a:t>
                      </a:r>
                      <a:r>
                        <a:rPr lang="he-IL" sz="1000" dirty="0">
                          <a:solidFill>
                            <a:srgbClr val="2626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אחריות</a:t>
                      </a:r>
                      <a:r>
                        <a:rPr lang="en-US" sz="1000" dirty="0">
                          <a:solidFill>
                            <a:srgbClr val="2626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</a:t>
                      </a:r>
                      <a:r>
                        <a:rPr lang="en-US" sz="1000" dirty="0" err="1">
                          <a:solidFill>
                            <a:srgbClr val="2626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מפל"ג</a:t>
                      </a:r>
                      <a:r>
                        <a:rPr lang="en-US" sz="1000" dirty="0">
                          <a:solidFill>
                            <a:srgbClr val="2626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 פלס"מ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9525" cap="flat" cmpd="sng" algn="ctr">
                      <a:solidFill>
                        <a:srgbClr val="C9C9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9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9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9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 rtl="1">
                        <a:buNone/>
                      </a:pPr>
                      <a:r>
                        <a:rPr lang="en-US" sz="950" b="1" dirty="0">
                          <a:solidFill>
                            <a:srgbClr val="9B1B1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‪23.9‬‏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marL="0" indent="0" algn="r" rtl="1">
                        <a:buNone/>
                      </a:pPr>
                      <a:r>
                        <a:rPr lang="en-US" sz="800" dirty="0">
                          <a:solidFill>
                            <a:srgbClr val="2626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‏</a:t>
                      </a:r>
                      <a:r>
                        <a:rPr lang="he-IL" sz="1000" dirty="0">
                          <a:solidFill>
                            <a:srgbClr val="2626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זיכוי חיילים בחצרות יסף</a:t>
                      </a:r>
                    </a:p>
                    <a:p>
                      <a:pPr marL="0" indent="0" algn="r" rtl="1">
                        <a:buNone/>
                      </a:pPr>
                      <a:r>
                        <a:rPr lang="he-IL" sz="1000" dirty="0">
                          <a:solidFill>
                            <a:srgbClr val="2626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הובלות רכבים ע"פ טבלת הובלות למחנה ליפקין</a:t>
                      </a:r>
                    </a:p>
                    <a:p>
                      <a:pPr marL="0" indent="0" algn="r" rtl="1">
                        <a:buNone/>
                      </a:pPr>
                      <a:r>
                        <a:rPr lang="he-IL" sz="1000" dirty="0">
                          <a:solidFill>
                            <a:srgbClr val="2626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החלפת גזרות 28-גפן</a:t>
                      </a:r>
                    </a:p>
                    <a:p>
                      <a:pPr marL="0" indent="0" algn="r" rtl="1">
                        <a:buNone/>
                      </a:pPr>
                      <a:r>
                        <a:rPr lang="he-IL" sz="1200" b="1" u="sng" dirty="0">
                          <a:solidFill>
                            <a:srgbClr val="26262B"/>
                          </a:solidFill>
                          <a:highlight>
                            <a:srgbClr val="00FF00"/>
                          </a:highlight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ירוק על כלל הצלמים הגדודים בסוף היום </a:t>
                      </a:r>
                    </a:p>
                  </a:txBody>
                  <a:tcPr marL="38100" marR="38100" marT="25400" marB="25400">
                    <a:lnL w="9525" cap="flat" cmpd="sng" algn="ctr">
                      <a:solidFill>
                        <a:srgbClr val="C9C9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9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9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9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 rtl="1">
                        <a:buNone/>
                      </a:pPr>
                      <a:r>
                        <a:rPr lang="en-US" sz="950" b="1" dirty="0">
                          <a:solidFill>
                            <a:srgbClr val="9B1B1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‪22.9‬‏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marL="0" indent="0" algn="r" rtl="1">
                        <a:buNone/>
                      </a:pPr>
                      <a:r>
                        <a:rPr lang="en-US" sz="1000" dirty="0">
                          <a:solidFill>
                            <a:srgbClr val="2626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 </a:t>
                      </a:r>
                      <a:r>
                        <a:rPr lang="he-IL" sz="1000" dirty="0">
                          <a:solidFill>
                            <a:srgbClr val="2626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 משאיות נכנסות ללבנון להורדת ציוד פלוגות ביום 23.9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9525" cap="flat" cmpd="sng" algn="ctr">
                      <a:solidFill>
                        <a:srgbClr val="C9C9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9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9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9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 rtl="1">
                        <a:buNone/>
                      </a:pPr>
                      <a:r>
                        <a:rPr lang="en-US" sz="950" b="1" dirty="0">
                          <a:solidFill>
                            <a:srgbClr val="2626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‪21.9‬‏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marL="0" indent="0" algn="r" rtl="1">
                        <a:buNone/>
                      </a:pPr>
                      <a:r>
                        <a:rPr lang="en-US" sz="800" dirty="0">
                          <a:solidFill>
                            <a:srgbClr val="2626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‏יום כיפור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9525" cap="flat" cmpd="sng" algn="ctr">
                      <a:solidFill>
                        <a:srgbClr val="C9C9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9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9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9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08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 rtl="1">
                        <a:buNone/>
                      </a:pPr>
                      <a:r>
                        <a:rPr lang="en-US" sz="950" b="1" dirty="0">
                          <a:solidFill>
                            <a:srgbClr val="2626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‪20.9‬‏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marL="0" indent="0" algn="r" rtl="1">
                        <a:buNone/>
                      </a:pPr>
                      <a:r>
                        <a:rPr lang="en-US" sz="1200" b="1" u="none" dirty="0">
                          <a:solidFill>
                            <a:srgbClr val="2626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‏</a:t>
                      </a:r>
                      <a:r>
                        <a:rPr lang="he-IL" sz="1200" b="1" u="none" dirty="0">
                          <a:solidFill>
                            <a:srgbClr val="2626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הוצאת ריו סולר</a:t>
                      </a:r>
                      <a:r>
                        <a:rPr lang="en-US" sz="1200" b="1" u="none" dirty="0">
                          <a:solidFill>
                            <a:srgbClr val="2626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 </a:t>
                      </a:r>
                      <a:r>
                        <a:rPr lang="he-IL" sz="1200" b="1" u="none" dirty="0">
                          <a:solidFill>
                            <a:srgbClr val="2626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לחצרות יסף </a:t>
                      </a:r>
                    </a:p>
                    <a:p>
                      <a:pPr marL="0" indent="0" algn="r" rtl="1">
                        <a:buNone/>
                      </a:pPr>
                      <a:r>
                        <a:rPr lang="he-IL" sz="800" dirty="0">
                          <a:solidFill>
                            <a:srgbClr val="26262B"/>
                          </a:solidFill>
                          <a:latin typeface="Arial" pitchFamily="34" charset="0"/>
                          <a:ea typeface="Arial" charset="0"/>
                          <a:cs typeface="Arial" pitchFamily="34" charset="-120"/>
                        </a:rPr>
                        <a:t>ערב יום כיפור 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9525" cap="flat" cmpd="sng" algn="ctr">
                      <a:solidFill>
                        <a:srgbClr val="C9C9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9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9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9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08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rtl="1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39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C9C9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9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9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9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8585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84129">
                <a:tc>
                  <a:txBody>
                    <a:bodyPr/>
                    <a:lstStyle/>
                    <a:p>
                      <a:pPr marL="0" indent="0" algn="r" rtl="1">
                        <a:buNone/>
                      </a:pPr>
                      <a:r>
                        <a:rPr lang="en-US" sz="950" b="1" dirty="0">
                          <a:solidFill>
                            <a:srgbClr val="2626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‪3.10‬‏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marL="0" indent="0" algn="r" rtl="1">
                        <a:buNone/>
                      </a:pPr>
                      <a:r>
                        <a:rPr lang="en-US" sz="800" dirty="0">
                          <a:solidFill>
                            <a:srgbClr val="2626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‏סוכות ב'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9525" cap="flat" cmpd="sng" algn="ctr">
                      <a:solidFill>
                        <a:srgbClr val="C9C9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9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9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9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08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 rtl="1">
                        <a:buNone/>
                      </a:pPr>
                      <a:r>
                        <a:rPr lang="en-US" sz="950" b="1" dirty="0">
                          <a:solidFill>
                            <a:srgbClr val="2626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‪2.10‬‏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marL="0" indent="0" algn="r" rtl="1">
                        <a:buNone/>
                      </a:pPr>
                      <a:r>
                        <a:rPr lang="en-US" sz="800" dirty="0">
                          <a:solidFill>
                            <a:srgbClr val="2626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‏סוכות ב'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9525" cap="flat" cmpd="sng" algn="ctr">
                      <a:solidFill>
                        <a:srgbClr val="C9C9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9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9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9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08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 rtl="1">
                        <a:buNone/>
                      </a:pPr>
                      <a:r>
                        <a:rPr lang="en-US" sz="950" b="1" dirty="0">
                          <a:solidFill>
                            <a:srgbClr val="9B1B1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‪1.10‬‏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marL="0" indent="0" algn="r" rtl="1">
                        <a:buNone/>
                      </a:pPr>
                      <a:r>
                        <a:rPr lang="en-US" sz="1000" dirty="0">
                          <a:solidFill>
                            <a:srgbClr val="2626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‏</a:t>
                      </a:r>
                      <a:r>
                        <a:rPr lang="en-US" sz="1000" dirty="0" err="1">
                          <a:solidFill>
                            <a:srgbClr val="2626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גדוד</a:t>
                      </a:r>
                      <a:r>
                        <a:rPr lang="en-US" sz="1000" dirty="0">
                          <a:solidFill>
                            <a:srgbClr val="2626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 </a:t>
                      </a:r>
                      <a:r>
                        <a:rPr lang="en-US" sz="1000" dirty="0" err="1">
                          <a:solidFill>
                            <a:srgbClr val="2626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מהיר</a:t>
                      </a:r>
                      <a:r>
                        <a:rPr lang="en-US" sz="1000" dirty="0">
                          <a:solidFill>
                            <a:srgbClr val="2626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?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9525" cap="flat" cmpd="sng" algn="ctr">
                      <a:solidFill>
                        <a:srgbClr val="C9C9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9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9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9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 rtl="1">
                        <a:buNone/>
                      </a:pPr>
                      <a:r>
                        <a:rPr lang="en-US" sz="950" b="1" dirty="0">
                          <a:solidFill>
                            <a:srgbClr val="9B1B1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‪30.9‬‏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marL="0" indent="0" algn="r" rtl="1">
                        <a:buNone/>
                      </a:pPr>
                      <a:r>
                        <a:rPr lang="en-US" sz="800" dirty="0">
                          <a:solidFill>
                            <a:srgbClr val="2626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‏</a:t>
                      </a:r>
                      <a:r>
                        <a:rPr lang="en-US" sz="800" dirty="0" err="1">
                          <a:solidFill>
                            <a:srgbClr val="2626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חול</a:t>
                      </a:r>
                      <a:r>
                        <a:rPr lang="en-US" sz="800" dirty="0">
                          <a:solidFill>
                            <a:srgbClr val="2626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 </a:t>
                      </a:r>
                      <a:r>
                        <a:rPr lang="en-US" sz="800" dirty="0" err="1">
                          <a:solidFill>
                            <a:srgbClr val="2626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המועד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9525" cap="flat" cmpd="sng" algn="ctr">
                      <a:solidFill>
                        <a:srgbClr val="C9C9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9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9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9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 rtl="1">
                        <a:buNone/>
                      </a:pPr>
                      <a:r>
                        <a:rPr lang="en-US" sz="950" b="1" dirty="0">
                          <a:solidFill>
                            <a:srgbClr val="9B1B1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‪29.9‬‏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marL="0" indent="0" algn="r" rtl="1">
                        <a:buNone/>
                      </a:pPr>
                      <a:r>
                        <a:rPr lang="en-US" sz="800" dirty="0">
                          <a:solidFill>
                            <a:srgbClr val="2626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‏</a:t>
                      </a:r>
                      <a:r>
                        <a:rPr lang="en-US" sz="800" dirty="0" err="1">
                          <a:solidFill>
                            <a:srgbClr val="2626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חול</a:t>
                      </a:r>
                      <a:r>
                        <a:rPr lang="en-US" sz="800" dirty="0">
                          <a:solidFill>
                            <a:srgbClr val="2626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 </a:t>
                      </a:r>
                      <a:r>
                        <a:rPr lang="en-US" sz="800" dirty="0" err="1">
                          <a:solidFill>
                            <a:srgbClr val="2626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המועד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9525" cap="flat" cmpd="sng" algn="ctr">
                      <a:solidFill>
                        <a:srgbClr val="C9C9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9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9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9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 rtl="1">
                        <a:buNone/>
                      </a:pPr>
                      <a:r>
                        <a:rPr lang="en-US" sz="950" b="1" dirty="0">
                          <a:solidFill>
                            <a:srgbClr val="9B1B1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‪28.9‬‏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marL="0" indent="0" algn="r" rtl="1">
                        <a:buNone/>
                      </a:pPr>
                      <a:r>
                        <a:rPr lang="en-US" sz="800" dirty="0">
                          <a:solidFill>
                            <a:srgbClr val="2626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‏</a:t>
                      </a:r>
                      <a:r>
                        <a:rPr lang="en-US" sz="800" dirty="0" err="1">
                          <a:solidFill>
                            <a:srgbClr val="2626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חול</a:t>
                      </a:r>
                      <a:r>
                        <a:rPr lang="en-US" sz="800" dirty="0">
                          <a:solidFill>
                            <a:srgbClr val="2626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 </a:t>
                      </a:r>
                      <a:r>
                        <a:rPr lang="en-US" sz="800" dirty="0" err="1">
                          <a:solidFill>
                            <a:srgbClr val="2626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המועד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9525" cap="flat" cmpd="sng" algn="ctr">
                      <a:solidFill>
                        <a:srgbClr val="C9C9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9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9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9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 rtl="1">
                        <a:buNone/>
                      </a:pPr>
                      <a:r>
                        <a:rPr lang="en-US" sz="950" b="1" dirty="0">
                          <a:solidFill>
                            <a:srgbClr val="9B1B1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‪27.9‬‏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marL="0" indent="0" algn="r" rtl="1">
                        <a:buNone/>
                      </a:pPr>
                      <a:r>
                        <a:rPr lang="en-US" sz="800" dirty="0">
                          <a:solidFill>
                            <a:srgbClr val="2626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‏</a:t>
                      </a:r>
                      <a:r>
                        <a:rPr lang="en-US" sz="800" dirty="0" err="1">
                          <a:solidFill>
                            <a:srgbClr val="2626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חול</a:t>
                      </a:r>
                      <a:r>
                        <a:rPr lang="en-US" sz="800" dirty="0">
                          <a:solidFill>
                            <a:srgbClr val="2626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 </a:t>
                      </a:r>
                      <a:r>
                        <a:rPr lang="en-US" sz="800" dirty="0" err="1">
                          <a:solidFill>
                            <a:srgbClr val="2626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המועד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9525" cap="flat" cmpd="sng" algn="ctr">
                      <a:solidFill>
                        <a:srgbClr val="C9C9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9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9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9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rtl="1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40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C9C9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9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9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9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8585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065187">
                <a:tc>
                  <a:txBody>
                    <a:bodyPr/>
                    <a:lstStyle/>
                    <a:p>
                      <a:pPr marL="0" indent="0" algn="r" rtl="1">
                        <a:buNone/>
                      </a:pPr>
                      <a:r>
                        <a:rPr lang="en-US" sz="950" b="1" dirty="0">
                          <a:solidFill>
                            <a:srgbClr val="9B1B1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‪10.10‬‏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9525" cap="flat" cmpd="sng" algn="ctr">
                      <a:solidFill>
                        <a:srgbClr val="C9C9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9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9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9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 rtl="1">
                        <a:buNone/>
                      </a:pPr>
                      <a:r>
                        <a:rPr lang="en-US" sz="950" b="1" dirty="0">
                          <a:solidFill>
                            <a:srgbClr val="9B1B1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‪9.10‬‏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9525" cap="flat" cmpd="sng" algn="ctr">
                      <a:solidFill>
                        <a:srgbClr val="C9C9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9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9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9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 rtl="1">
                        <a:buNone/>
                      </a:pPr>
                      <a:r>
                        <a:rPr lang="en-US" sz="950" b="1" dirty="0">
                          <a:solidFill>
                            <a:srgbClr val="9B1B1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‪8.10‬‏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marL="0" indent="0" algn="r" rtl="1">
                        <a:buNone/>
                      </a:pPr>
                      <a:r>
                        <a:rPr lang="en-US" sz="800" dirty="0">
                          <a:solidFill>
                            <a:srgbClr val="2626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‏</a:t>
                      </a:r>
                      <a:r>
                        <a:rPr lang="en-US" sz="1200" dirty="0" err="1">
                          <a:solidFill>
                            <a:srgbClr val="2626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בחינות</a:t>
                      </a:r>
                      <a:r>
                        <a:rPr lang="en-US" sz="1200" dirty="0">
                          <a:solidFill>
                            <a:srgbClr val="2626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 </a:t>
                      </a:r>
                      <a:r>
                        <a:rPr lang="en-US" sz="1200" dirty="0" err="1">
                          <a:solidFill>
                            <a:srgbClr val="2626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נשק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marL="0" indent="0" algn="r" rtl="1">
                        <a:buNone/>
                      </a:pPr>
                      <a:r>
                        <a:rPr lang="en-US" sz="1200" dirty="0">
                          <a:solidFill>
                            <a:srgbClr val="2626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‏</a:t>
                      </a:r>
                      <a:r>
                        <a:rPr lang="en-US" sz="1200" dirty="0" err="1">
                          <a:solidFill>
                            <a:srgbClr val="2626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מסדר</a:t>
                      </a:r>
                      <a:r>
                        <a:rPr lang="en-US" sz="1200" dirty="0">
                          <a:solidFill>
                            <a:srgbClr val="2626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 </a:t>
                      </a:r>
                      <a:r>
                        <a:rPr lang="he-IL" sz="1200" dirty="0">
                          <a:solidFill>
                            <a:srgbClr val="2626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תיקים </a:t>
                      </a:r>
                      <a:r>
                        <a:rPr lang="he-IL" sz="1200" dirty="0" err="1">
                          <a:solidFill>
                            <a:srgbClr val="2626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פלס"מ</a:t>
                      </a:r>
                      <a:r>
                        <a:rPr lang="he-IL" sz="1200" dirty="0">
                          <a:solidFill>
                            <a:srgbClr val="2626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 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marL="0" indent="0" algn="r" rtl="1">
                        <a:buNone/>
                      </a:pPr>
                      <a:r>
                        <a:rPr lang="en-US" sz="800" dirty="0">
                          <a:solidFill>
                            <a:srgbClr val="2626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‏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9525" cap="flat" cmpd="sng" algn="ctr">
                      <a:solidFill>
                        <a:srgbClr val="C9C9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9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9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9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 rtl="1">
                        <a:buNone/>
                      </a:pPr>
                      <a:r>
                        <a:rPr lang="en-US" sz="950" b="1" dirty="0">
                          <a:solidFill>
                            <a:srgbClr val="9B1B1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‪7.10‬‏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marL="0" indent="0" algn="r" rtl="1">
                        <a:buNone/>
                      </a:pPr>
                      <a:r>
                        <a:rPr lang="en-US" sz="800" dirty="0">
                          <a:solidFill>
                            <a:srgbClr val="2626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‏</a:t>
                      </a:r>
                      <a:r>
                        <a:rPr lang="en-US" sz="1200" dirty="0" err="1">
                          <a:solidFill>
                            <a:srgbClr val="2626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בחינות</a:t>
                      </a:r>
                      <a:r>
                        <a:rPr lang="en-US" sz="1200" dirty="0">
                          <a:solidFill>
                            <a:srgbClr val="2626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 </a:t>
                      </a:r>
                      <a:r>
                        <a:rPr lang="en-US" sz="1200" dirty="0" err="1">
                          <a:solidFill>
                            <a:srgbClr val="2626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נשק</a:t>
                      </a:r>
                      <a:r>
                        <a:rPr lang="en-US" sz="1200" dirty="0">
                          <a:solidFill>
                            <a:srgbClr val="2626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 </a:t>
                      </a:r>
                    </a:p>
                    <a:p>
                      <a:pPr marL="0" indent="0" algn="r" rtl="1">
                        <a:buNone/>
                      </a:pPr>
                      <a:r>
                        <a:rPr lang="en-US" sz="1200" dirty="0">
                          <a:solidFill>
                            <a:srgbClr val="2626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‏</a:t>
                      </a:r>
                      <a:r>
                        <a:rPr lang="en-US" sz="1200" dirty="0" err="1">
                          <a:solidFill>
                            <a:srgbClr val="2626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מסדר</a:t>
                      </a:r>
                      <a:r>
                        <a:rPr lang="en-US" sz="1200" dirty="0">
                          <a:solidFill>
                            <a:srgbClr val="2626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 </a:t>
                      </a:r>
                      <a:r>
                        <a:rPr lang="he-IL" sz="1200" dirty="0">
                          <a:solidFill>
                            <a:srgbClr val="2626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תיקים לפלוגה ג+ מסייעת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marL="0" indent="0" algn="r" rtl="1">
                        <a:buNone/>
                      </a:pPr>
                      <a:r>
                        <a:rPr lang="en-US" sz="1200" dirty="0">
                          <a:solidFill>
                            <a:srgbClr val="2626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‏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9525" cap="flat" cmpd="sng" algn="ctr">
                      <a:solidFill>
                        <a:srgbClr val="C9C9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9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9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9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 rtl="1">
                        <a:buNone/>
                      </a:pPr>
                      <a:r>
                        <a:rPr lang="en-US" sz="950" b="1" dirty="0">
                          <a:solidFill>
                            <a:srgbClr val="9B1B1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‪6.10‬‏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marL="0" indent="0" algn="r" rtl="1">
                        <a:buNone/>
                      </a:pPr>
                      <a:r>
                        <a:rPr lang="en-US" sz="800" dirty="0">
                          <a:solidFill>
                            <a:srgbClr val="2626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‏</a:t>
                      </a:r>
                      <a:r>
                        <a:rPr lang="en-US" sz="1200" dirty="0">
                          <a:solidFill>
                            <a:srgbClr val="2626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בחינות </a:t>
                      </a:r>
                      <a:r>
                        <a:rPr lang="en-US" sz="1200" dirty="0" err="1">
                          <a:solidFill>
                            <a:srgbClr val="2626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נשק</a:t>
                      </a:r>
                      <a:r>
                        <a:rPr lang="en-US" sz="1200" dirty="0">
                          <a:solidFill>
                            <a:srgbClr val="2626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 </a:t>
                      </a:r>
                    </a:p>
                    <a:p>
                      <a:pPr marL="0" indent="0" algn="r" rtl="1">
                        <a:buNone/>
                      </a:pPr>
                      <a:r>
                        <a:rPr lang="en-US" sz="1200" dirty="0">
                          <a:solidFill>
                            <a:srgbClr val="2626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‏</a:t>
                      </a:r>
                      <a:r>
                        <a:rPr lang="en-US" sz="1200" dirty="0" err="1">
                          <a:solidFill>
                            <a:srgbClr val="2626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מסדר</a:t>
                      </a:r>
                      <a:r>
                        <a:rPr lang="en-US" sz="1200" dirty="0">
                          <a:solidFill>
                            <a:srgbClr val="2626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 </a:t>
                      </a:r>
                      <a:r>
                        <a:rPr lang="he-IL" sz="1200" dirty="0">
                          <a:solidFill>
                            <a:srgbClr val="2626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תיקים לפלוגה </a:t>
                      </a:r>
                      <a:r>
                        <a:rPr lang="he-IL" sz="1200" dirty="0" err="1">
                          <a:solidFill>
                            <a:srgbClr val="2626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א+ב</a:t>
                      </a:r>
                      <a:r>
                        <a:rPr lang="he-IL" sz="1200" dirty="0">
                          <a:solidFill>
                            <a:srgbClr val="2626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 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marL="0" indent="0" algn="r" rtl="1">
                        <a:buNone/>
                      </a:pPr>
                      <a:r>
                        <a:rPr lang="en-US" sz="800" dirty="0">
                          <a:solidFill>
                            <a:srgbClr val="2626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‏\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9525" cap="flat" cmpd="sng" algn="ctr">
                      <a:solidFill>
                        <a:srgbClr val="C9C9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9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9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9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 rtl="1">
                        <a:buNone/>
                      </a:pPr>
                      <a:r>
                        <a:rPr lang="en-US" sz="950" b="1" dirty="0">
                          <a:solidFill>
                            <a:srgbClr val="9B1B1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‪5.10‬‏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marL="0" indent="0" algn="r" rtl="1">
                        <a:buNone/>
                      </a:pPr>
                      <a:r>
                        <a:rPr lang="en-US" sz="800" dirty="0">
                          <a:solidFill>
                            <a:srgbClr val="2626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‏</a:t>
                      </a:r>
                      <a:r>
                        <a:rPr lang="en-US" sz="1200" dirty="0" err="1">
                          <a:solidFill>
                            <a:srgbClr val="2626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יום</a:t>
                      </a:r>
                      <a:r>
                        <a:rPr lang="en-US" sz="1200" dirty="0">
                          <a:solidFill>
                            <a:srgbClr val="2626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 </a:t>
                      </a:r>
                      <a:r>
                        <a:rPr lang="en-US" sz="1200" dirty="0" err="1">
                          <a:solidFill>
                            <a:srgbClr val="2626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עיבוד</a:t>
                      </a:r>
                      <a:r>
                        <a:rPr lang="he-IL" sz="1200" dirty="0">
                          <a:solidFill>
                            <a:srgbClr val="2626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 ירושלים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9525" cap="flat" cmpd="sng" algn="ctr">
                      <a:solidFill>
                        <a:srgbClr val="C9C9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9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9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9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 rtl="1">
                        <a:buNone/>
                      </a:pPr>
                      <a:r>
                        <a:rPr lang="en-US" sz="950" b="1" dirty="0">
                          <a:solidFill>
                            <a:srgbClr val="9B1B1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‪4.10‬‏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marL="0" indent="0" algn="r" rtl="1">
                        <a:buNone/>
                      </a:pPr>
                      <a:r>
                        <a:rPr lang="en-US" sz="800" dirty="0">
                          <a:solidFill>
                            <a:srgbClr val="2626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‏</a:t>
                      </a:r>
                      <a:r>
                        <a:rPr lang="en-US" sz="1200" dirty="0" err="1">
                          <a:solidFill>
                            <a:srgbClr val="2626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יום</a:t>
                      </a:r>
                      <a:r>
                        <a:rPr lang="en-US" sz="1200" dirty="0">
                          <a:solidFill>
                            <a:srgbClr val="2626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 </a:t>
                      </a:r>
                      <a:r>
                        <a:rPr lang="en-US" sz="1200" dirty="0" err="1">
                          <a:solidFill>
                            <a:srgbClr val="2626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עיבוד</a:t>
                      </a:r>
                      <a:r>
                        <a:rPr lang="he-IL" sz="1200" dirty="0">
                          <a:solidFill>
                            <a:srgbClr val="2626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 ירושלים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9525" cap="flat" cmpd="sng" algn="ctr">
                      <a:solidFill>
                        <a:srgbClr val="C9C9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9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9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9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rtl="1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41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C9C9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9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9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9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8585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833517">
                <a:tc>
                  <a:txBody>
                    <a:bodyPr/>
                    <a:lstStyle/>
                    <a:p>
                      <a:pPr marL="0" indent="0" algn="r" rtl="1">
                        <a:buNone/>
                      </a:pPr>
                      <a:r>
                        <a:rPr lang="en-US" sz="950" b="1" dirty="0">
                          <a:solidFill>
                            <a:srgbClr val="9B1B1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‪17.10‬‏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9525" cap="flat" cmpd="sng" algn="ctr">
                      <a:solidFill>
                        <a:srgbClr val="C9C9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9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9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9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 rtl="1">
                        <a:buNone/>
                      </a:pPr>
                      <a:r>
                        <a:rPr lang="en-US" sz="950" b="1" dirty="0">
                          <a:solidFill>
                            <a:srgbClr val="9B1B1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‪16.10‬‏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9525" cap="flat" cmpd="sng" algn="ctr">
                      <a:solidFill>
                        <a:srgbClr val="C9C9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9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9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9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 rtl="1">
                        <a:buNone/>
                      </a:pPr>
                      <a:r>
                        <a:rPr lang="en-US" sz="950" b="1" dirty="0">
                          <a:solidFill>
                            <a:srgbClr val="9B1B1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‪15.10‬‏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marL="0" indent="0" algn="r" rtl="1">
                        <a:buNone/>
                      </a:pPr>
                      <a:r>
                        <a:rPr lang="en-US" sz="800" dirty="0">
                          <a:solidFill>
                            <a:srgbClr val="2626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‏</a:t>
                      </a:r>
                      <a:r>
                        <a:rPr lang="he-IL" sz="1000" dirty="0">
                          <a:solidFill>
                            <a:srgbClr val="2626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מסדר מח"ט מלא </a:t>
                      </a:r>
                      <a:endParaRPr lang="en-US" sz="1000" dirty="0">
                        <a:solidFill>
                          <a:srgbClr val="26262B"/>
                        </a:solidFill>
                        <a:latin typeface="Arial" pitchFamily="34" charset="0"/>
                        <a:ea typeface="Arial" pitchFamily="34" charset="-122"/>
                        <a:cs typeface="Arial" pitchFamily="34" charset="-120"/>
                      </a:endParaRPr>
                    </a:p>
                    <a:p>
                      <a:pPr marL="0" indent="0" algn="r" rtl="1">
                        <a:buNone/>
                      </a:pPr>
                      <a:r>
                        <a:rPr lang="en-US" sz="1000" dirty="0">
                          <a:solidFill>
                            <a:srgbClr val="2626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‏</a:t>
                      </a:r>
                      <a:r>
                        <a:rPr lang="he-IL" sz="1000" dirty="0" err="1">
                          <a:solidFill>
                            <a:srgbClr val="2626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תג"ב</a:t>
                      </a:r>
                      <a:r>
                        <a:rPr lang="he-IL" sz="1000" dirty="0">
                          <a:solidFill>
                            <a:srgbClr val="2626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 </a:t>
                      </a:r>
                      <a:r>
                        <a:rPr lang="en-US" sz="1000" dirty="0" err="1">
                          <a:solidFill>
                            <a:srgbClr val="2626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דו"ח</a:t>
                      </a:r>
                      <a:r>
                        <a:rPr lang="en-US" sz="1000" dirty="0">
                          <a:solidFill>
                            <a:srgbClr val="2626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 תחמושת ותאונות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9525" cap="flat" cmpd="sng" algn="ctr">
                      <a:solidFill>
                        <a:srgbClr val="C9C9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9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9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9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 rtl="1">
                        <a:buNone/>
                      </a:pPr>
                      <a:r>
                        <a:rPr lang="en-US" sz="950" b="1" dirty="0">
                          <a:solidFill>
                            <a:srgbClr val="9B1B1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‪14.10‬‏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marL="0" marR="0" lvl="0" indent="0" algn="r" defTabSz="914400" rtl="1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800" dirty="0">
                          <a:solidFill>
                            <a:srgbClr val="2626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‏</a:t>
                      </a:r>
                      <a:r>
                        <a:rPr lang="en-US" sz="1200" dirty="0">
                          <a:solidFill>
                            <a:srgbClr val="2626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‏</a:t>
                      </a:r>
                      <a:r>
                        <a:rPr lang="he-IL" sz="1200" dirty="0">
                          <a:solidFill>
                            <a:srgbClr val="2626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העלאת כשירות שבוע מאסף גדודי </a:t>
                      </a:r>
                    </a:p>
                    <a:p>
                      <a:pPr marL="0" indent="0" algn="r" rtl="1">
                        <a:buNone/>
                      </a:pP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9525" cap="flat" cmpd="sng" algn="ctr">
                      <a:solidFill>
                        <a:srgbClr val="C9C9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9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9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9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 rtl="1">
                        <a:buNone/>
                      </a:pPr>
                      <a:r>
                        <a:rPr lang="en-US" sz="950" b="1" dirty="0">
                          <a:solidFill>
                            <a:srgbClr val="9B1B1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‪13.10‬‏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marL="0" marR="0" lvl="0" indent="0" algn="r" defTabSz="914400" rtl="1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dirty="0">
                          <a:solidFill>
                            <a:srgbClr val="2626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‏</a:t>
                      </a:r>
                      <a:r>
                        <a:rPr lang="he-IL" sz="1200" dirty="0">
                          <a:solidFill>
                            <a:srgbClr val="2626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העלאת כשירות שבוע מאסף גדודי </a:t>
                      </a:r>
                    </a:p>
                    <a:p>
                      <a:pPr marL="0" indent="0" algn="r" rtl="1">
                        <a:buNone/>
                      </a:pP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9525" cap="flat" cmpd="sng" algn="ctr">
                      <a:solidFill>
                        <a:srgbClr val="C9C9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9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9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9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 rtl="1">
                        <a:buNone/>
                      </a:pPr>
                      <a:r>
                        <a:rPr lang="en-US" sz="950" b="1" dirty="0">
                          <a:solidFill>
                            <a:srgbClr val="9B1B1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‪12.10‬‏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marL="0" marR="0" lvl="0" indent="0" algn="r" defTabSz="914400" rtl="1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dirty="0">
                          <a:solidFill>
                            <a:srgbClr val="2626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‏‏</a:t>
                      </a:r>
                      <a:r>
                        <a:rPr lang="he-IL" sz="1200" dirty="0">
                          <a:solidFill>
                            <a:srgbClr val="2626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העלאת כשירות שבוע מאסף גדודי </a:t>
                      </a:r>
                    </a:p>
                    <a:p>
                      <a:pPr marL="0" indent="0" algn="r" rtl="1">
                        <a:buNone/>
                      </a:pP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9525" cap="flat" cmpd="sng" algn="ctr">
                      <a:solidFill>
                        <a:srgbClr val="C9C9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9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9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9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 rtl="1">
                        <a:buNone/>
                      </a:pPr>
                      <a:r>
                        <a:rPr lang="en-US" sz="950" b="1" dirty="0">
                          <a:solidFill>
                            <a:srgbClr val="9B1B1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‪11.10‬‏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marL="0" marR="0" lvl="0" indent="0" algn="r" defTabSz="914400" rtl="1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800" dirty="0">
                          <a:solidFill>
                            <a:srgbClr val="2626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‏‏</a:t>
                      </a:r>
                      <a:r>
                        <a:rPr lang="he-IL" sz="1200" dirty="0">
                          <a:solidFill>
                            <a:srgbClr val="2626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העלאת כשירות שבוע מאסף גדודי </a:t>
                      </a:r>
                    </a:p>
                    <a:p>
                      <a:pPr marL="0" indent="0" algn="r" rtl="1">
                        <a:buNone/>
                      </a:pPr>
                      <a:r>
                        <a:rPr lang="he-IL" sz="1200" dirty="0">
                          <a:solidFill>
                            <a:srgbClr val="26262B"/>
                          </a:solidFill>
                          <a:latin typeface="Arial" pitchFamily="34" charset="0"/>
                          <a:ea typeface="Arial" charset="0"/>
                          <a:cs typeface="Arial" pitchFamily="34" charset="-120"/>
                        </a:rPr>
                        <a:t>ירידת כלים לסדנה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>
                    <a:lnL w="9525" cap="flat" cmpd="sng" algn="ctr">
                      <a:solidFill>
                        <a:srgbClr val="C9C9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9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9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9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rtl="1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42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C9C9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9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9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9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8585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1475720" y="274320"/>
            <a:ext cx="530352" cy="566928"/>
          </a:xfrm>
          <a:prstGeom prst="rect">
            <a:avLst/>
          </a:prstGeom>
          <a:solidFill>
            <a:srgbClr val="9F2223"/>
          </a:solidFill>
          <a:ln/>
        </p:spPr>
        <p:txBody>
          <a:bodyPr/>
          <a:lstStyle/>
          <a:p>
            <a:endParaRPr lang="he-IL"/>
          </a:p>
        </p:txBody>
      </p:sp>
      <p:sp>
        <p:nvSpPr>
          <p:cNvPr id="3" name="Text 1"/>
          <p:cNvSpPr txBox="1"/>
          <p:nvPr/>
        </p:nvSpPr>
        <p:spPr>
          <a:xfrm>
            <a:off x="11475720" y="274320"/>
            <a:ext cx="5303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2743200" y="237744"/>
            <a:ext cx="8595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he-IL" altLang="en-US" sz="3000" b="1" dirty="0">
                <a:solidFill>
                  <a:srgbClr val="7E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תוכנית הובלות ירידה מתע"מ</a:t>
            </a:r>
            <a:endParaRPr lang="he-IL" sz="3000" dirty="0"/>
          </a:p>
        </p:txBody>
      </p:sp>
      <p:sp>
        <p:nvSpPr>
          <p:cNvPr id="5" name="Text 3"/>
          <p:cNvSpPr txBox="1"/>
          <p:nvPr/>
        </p:nvSpPr>
        <p:spPr>
          <a:xfrm>
            <a:off x="1371600" y="859536"/>
            <a:ext cx="9966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he-IL" altLang="en-US" sz="1250" dirty="0">
                <a:solidFill>
                  <a:srgbClr val="5959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עדכון להובלות | סה"כ בתוכנית: 26 כלים | יום ג' 22.9: 6 כלים | יום ד' 23.9: 20 כלים ע"ג 10 פלטות</a:t>
            </a:r>
            <a:endParaRPr lang="he-IL" sz="1250" dirty="0"/>
          </a:p>
        </p:txBody>
      </p:sp>
      <p:sp>
        <p:nvSpPr>
          <p:cNvPr id="6" name="Text 4"/>
          <p:cNvSpPr txBox="1"/>
          <p:nvPr/>
        </p:nvSpPr>
        <p:spPr>
          <a:xfrm>
            <a:off x="411480" y="6528816"/>
            <a:ext cx="5029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 rtl="1">
              <a:buNone/>
            </a:pPr>
            <a:r>
              <a:rPr lang="he-IL" altLang="en-US" sz="1000" dirty="0">
                <a:solidFill>
                  <a:srgbClr val="5959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גדוד 28 | תוכנית ירידה מתע"מ לבנון | בלמ"ס</a:t>
            </a:r>
            <a:endParaRPr lang="he-IL" sz="1000" dirty="0"/>
          </a:p>
        </p:txBody>
      </p:sp>
      <p:sp>
        <p:nvSpPr>
          <p:cNvPr id="7" name="Text 5"/>
          <p:cNvSpPr txBox="1"/>
          <p:nvPr/>
        </p:nvSpPr>
        <p:spPr>
          <a:xfrm>
            <a:off x="6720840" y="1335024"/>
            <a:ext cx="50749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he-IL" altLang="en-US" sz="1700" b="1" dirty="0">
                <a:solidFill>
                  <a:srgbClr val="7E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יום שלישי 22.9</a:t>
            </a:r>
            <a:endParaRPr lang="he-IL" sz="1700" dirty="0"/>
          </a:p>
        </p:txBody>
      </p:sp>
      <p:sp>
        <p:nvSpPr>
          <p:cNvPr id="8" name="Text 6"/>
          <p:cNvSpPr txBox="1"/>
          <p:nvPr/>
        </p:nvSpPr>
        <p:spPr>
          <a:xfrm>
            <a:off x="6720840" y="1737360"/>
            <a:ext cx="5074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he-IL" altLang="en-US" sz="1200" b="1" dirty="0">
                <a:solidFill>
                  <a:srgbClr val="26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הובלה 2 האמרים </a:t>
            </a:r>
            <a:endParaRPr lang="he-IL" sz="120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166745759"/>
              </p:ext>
            </p:extLst>
          </p:nvPr>
        </p:nvGraphicFramePr>
        <p:xfrm>
          <a:off x="6720840" y="2011680"/>
          <a:ext cx="5074920" cy="768096"/>
        </p:xfrm>
        <a:graphic>
          <a:graphicData uri="http://schemas.openxmlformats.org/drawingml/2006/table">
            <a:tbl>
              <a:tblPr/>
              <a:tblGrid>
                <a:gridCol w="17373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2344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256032">
                <a:tc>
                  <a:txBody>
                    <a:bodyPr/>
                    <a:lstStyle/>
                    <a:p>
                      <a:pPr marL="0" indent="0" algn="r" rtl="1">
                        <a:buNone/>
                      </a:pPr>
                      <a:r>
                        <a:rPr lang="he-IL" alt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הערות</a:t>
                      </a:r>
                      <a:endParaRPr lang="he-IL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7E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7E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7E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7E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E1A1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 rtl="1">
                        <a:buNone/>
                      </a:pPr>
                      <a:r>
                        <a:rPr lang="he-IL" alt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צ'</a:t>
                      </a:r>
                      <a:endParaRPr lang="he-IL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7E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7E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7E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7E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E1A1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 rtl="1">
                        <a:buNone/>
                      </a:pPr>
                      <a:r>
                        <a:rPr lang="he-IL" alt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סוג רכב</a:t>
                      </a:r>
                      <a:endParaRPr lang="he-IL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7E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7E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7E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7E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E1A1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 algn="r" rtl="1">
                        <a:buNone/>
                      </a:pPr>
                      <a:endParaRPr lang="he-IL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D6CF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7E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r" rtl="1">
                        <a:buNone/>
                      </a:pPr>
                      <a:r>
                        <a:rPr lang="he-IL" altLang="en-US" sz="1000" b="1" dirty="0">
                          <a:solidFill>
                            <a:srgbClr val="2626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702401</a:t>
                      </a:r>
                      <a:endParaRPr lang="he-IL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D6CF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7E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r" rtl="1">
                        <a:buNone/>
                      </a:pPr>
                      <a:r>
                        <a:rPr lang="he-IL" altLang="en-US" sz="1000" dirty="0">
                          <a:solidFill>
                            <a:srgbClr val="2626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האמר</a:t>
                      </a:r>
                      <a:endParaRPr lang="he-IL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D6CF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7E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 algn="r" rtl="1">
                        <a:buNone/>
                      </a:pPr>
                      <a:endParaRPr lang="he-IL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D6CF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4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 rtl="1">
                        <a:buNone/>
                      </a:pPr>
                      <a:r>
                        <a:rPr lang="he-IL" altLang="en-US" sz="1000" b="1" dirty="0">
                          <a:solidFill>
                            <a:srgbClr val="2626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702039</a:t>
                      </a:r>
                      <a:endParaRPr lang="he-IL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D6CF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4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 rtl="1">
                        <a:buNone/>
                      </a:pPr>
                      <a:r>
                        <a:rPr lang="he-IL" altLang="en-US" sz="1000" dirty="0">
                          <a:solidFill>
                            <a:srgbClr val="2626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האמר חט"פ</a:t>
                      </a:r>
                      <a:endParaRPr lang="he-IL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D6CF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4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sp>
        <p:nvSpPr>
          <p:cNvPr id="10" name="Text 7"/>
          <p:cNvSpPr txBox="1"/>
          <p:nvPr/>
        </p:nvSpPr>
        <p:spPr>
          <a:xfrm>
            <a:off x="6720840" y="3063240"/>
            <a:ext cx="5074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he-IL" altLang="en-US" sz="1200" b="1" dirty="0">
                <a:solidFill>
                  <a:srgbClr val="26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ירידה בנסיעה עצמית 23.9</a:t>
            </a:r>
            <a:endParaRPr lang="he-IL" sz="1200" dirty="0"/>
          </a:p>
        </p:txBody>
      </p:sp>
      <p:graphicFrame>
        <p:nvGraphicFramePr>
          <p:cNvPr id="11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180504545"/>
              </p:ext>
            </p:extLst>
          </p:nvPr>
        </p:nvGraphicFramePr>
        <p:xfrm>
          <a:off x="6720840" y="3337560"/>
          <a:ext cx="5074920" cy="1792224"/>
        </p:xfrm>
        <a:graphic>
          <a:graphicData uri="http://schemas.openxmlformats.org/drawingml/2006/table">
            <a:tbl>
              <a:tblPr/>
              <a:tblGrid>
                <a:gridCol w="17373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2344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256032">
                <a:tc>
                  <a:txBody>
                    <a:bodyPr/>
                    <a:lstStyle/>
                    <a:p>
                      <a:pPr marL="0" indent="0" algn="r" rtl="1">
                        <a:buNone/>
                      </a:pPr>
                      <a:r>
                        <a:rPr lang="he-IL" alt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הערות</a:t>
                      </a:r>
                      <a:endParaRPr lang="he-IL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7E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7E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7E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7E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E1A1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 rtl="1">
                        <a:buNone/>
                      </a:pPr>
                      <a:r>
                        <a:rPr lang="he-IL" alt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צ'</a:t>
                      </a:r>
                      <a:endParaRPr lang="he-IL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7E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7E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7E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7E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E1A1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 rtl="1">
                        <a:buNone/>
                      </a:pPr>
                      <a:r>
                        <a:rPr lang="he-IL" alt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סוג רכב</a:t>
                      </a:r>
                      <a:endParaRPr lang="he-IL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7E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7E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7E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7E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E1A1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 algn="r" rtl="1">
                        <a:buNone/>
                      </a:pPr>
                      <a:endParaRPr lang="he-IL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D6CF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7E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r" rtl="1">
                        <a:buNone/>
                      </a:pPr>
                      <a:r>
                        <a:rPr lang="he-IL" altLang="en-US" sz="1000" b="1" dirty="0">
                          <a:solidFill>
                            <a:srgbClr val="2626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727491</a:t>
                      </a:r>
                      <a:endParaRPr lang="he-IL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D6CF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7E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r" rtl="1">
                        <a:buNone/>
                      </a:pPr>
                      <a:r>
                        <a:rPr lang="he-IL" altLang="en-US" sz="1000" dirty="0">
                          <a:solidFill>
                            <a:srgbClr val="2626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FMTV ארוכה</a:t>
                      </a:r>
                      <a:endParaRPr lang="he-IL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D6CF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7E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 algn="r" rtl="1">
                        <a:buNone/>
                      </a:pPr>
                      <a:endParaRPr lang="he-IL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D6CF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4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 rtl="1">
                        <a:buNone/>
                      </a:pPr>
                      <a:r>
                        <a:rPr lang="he-IL" altLang="en-US" sz="1000" b="1" dirty="0">
                          <a:solidFill>
                            <a:srgbClr val="2626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727496</a:t>
                      </a:r>
                      <a:endParaRPr lang="he-IL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D6CF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4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 rtl="1">
                        <a:buNone/>
                      </a:pPr>
                      <a:r>
                        <a:rPr lang="he-IL" altLang="en-US" sz="1000" dirty="0">
                          <a:solidFill>
                            <a:srgbClr val="2626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FMTV ארוכה</a:t>
                      </a:r>
                      <a:endParaRPr lang="he-IL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D6CF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4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 algn="r" rtl="1">
                        <a:buNone/>
                      </a:pPr>
                      <a:endParaRPr lang="he-IL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D6CF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r" rtl="1">
                        <a:buNone/>
                      </a:pPr>
                      <a:r>
                        <a:rPr lang="he-IL" altLang="en-US" sz="1000" b="1" dirty="0">
                          <a:solidFill>
                            <a:srgbClr val="2626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990129</a:t>
                      </a:r>
                      <a:endParaRPr lang="he-IL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D6CF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r" rtl="1">
                        <a:buNone/>
                      </a:pPr>
                      <a:r>
                        <a:rPr lang="he-IL" altLang="en-US" sz="1000" dirty="0">
                          <a:solidFill>
                            <a:srgbClr val="2626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FMTV</a:t>
                      </a:r>
                      <a:endParaRPr lang="he-IL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D6CF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 algn="r" rtl="1">
                        <a:buNone/>
                      </a:pPr>
                      <a:endParaRPr lang="he-IL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D6CF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4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 rtl="1">
                        <a:buNone/>
                      </a:pPr>
                      <a:r>
                        <a:rPr lang="he-IL" altLang="en-US" sz="1000" b="1" dirty="0">
                          <a:solidFill>
                            <a:srgbClr val="2626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990009</a:t>
                      </a:r>
                      <a:endParaRPr lang="he-IL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D6CF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4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 rtl="1">
                        <a:buNone/>
                      </a:pPr>
                      <a:r>
                        <a:rPr lang="he-IL" altLang="en-US" sz="1000" dirty="0">
                          <a:solidFill>
                            <a:srgbClr val="2626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FMTV</a:t>
                      </a:r>
                      <a:endParaRPr lang="he-IL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D6CF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4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 algn="r" rtl="1">
                        <a:buNone/>
                      </a:pPr>
                      <a:endParaRPr lang="he-IL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D6CF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4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 rtl="1">
                        <a:buNone/>
                      </a:pPr>
                      <a:endParaRPr lang="he-IL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D6CF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4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 rtl="1">
                        <a:buNone/>
                      </a:pPr>
                      <a:r>
                        <a:rPr lang="he-IL" sz="1000" dirty="0" err="1">
                          <a:latin typeface="Arial" charset="0"/>
                          <a:ea typeface="Arial" charset="0"/>
                          <a:cs typeface="Arial" charset="0"/>
                        </a:rPr>
                        <a:t>תובלתית</a:t>
                      </a:r>
                      <a:r>
                        <a:rPr lang="he-IL" sz="1000" dirty="0">
                          <a:latin typeface="Arial" charset="0"/>
                          <a:ea typeface="Arial" charset="0"/>
                          <a:cs typeface="Arial" charset="0"/>
                        </a:rPr>
                        <a:t> מרכז הובלה </a:t>
                      </a: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D6CF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4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44471486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 algn="r" rtl="1">
                        <a:buNone/>
                      </a:pPr>
                      <a:endParaRPr lang="he-IL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D6CF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4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 rtl="1">
                        <a:buNone/>
                      </a:pPr>
                      <a:endParaRPr lang="he-IL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D6CF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4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 rtl="1">
                        <a:buNone/>
                      </a:pPr>
                      <a:r>
                        <a:rPr lang="he-IL" sz="1000" dirty="0" err="1">
                          <a:latin typeface="Arial" charset="0"/>
                          <a:ea typeface="Arial" charset="0"/>
                          <a:cs typeface="Arial" charset="0"/>
                        </a:rPr>
                        <a:t>תובלתית</a:t>
                      </a:r>
                      <a:r>
                        <a:rPr lang="he-IL" sz="1000" dirty="0">
                          <a:latin typeface="Arial" charset="0"/>
                          <a:ea typeface="Arial" charset="0"/>
                          <a:cs typeface="Arial" charset="0"/>
                        </a:rPr>
                        <a:t> מרכז הובלה </a:t>
                      </a: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D6CF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4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874151155"/>
                  </a:ext>
                </a:extLst>
              </a:tr>
            </a:tbl>
          </a:graphicData>
        </a:graphic>
      </p:graphicFrame>
      <p:sp>
        <p:nvSpPr>
          <p:cNvPr id="14" name="Text 10"/>
          <p:cNvSpPr txBox="1"/>
          <p:nvPr/>
        </p:nvSpPr>
        <p:spPr>
          <a:xfrm>
            <a:off x="411480" y="1335024"/>
            <a:ext cx="59893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he-IL" altLang="en-US" sz="1700" b="1" dirty="0">
                <a:solidFill>
                  <a:srgbClr val="7E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יום רביעי 23.9 20 כלים ע"ג 10 פלטות</a:t>
            </a:r>
            <a:endParaRPr lang="he-IL" sz="1700" dirty="0"/>
          </a:p>
        </p:txBody>
      </p:sp>
      <p:graphicFrame>
        <p:nvGraphicFramePr>
          <p:cNvPr id="15" name="Table 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582139729"/>
              </p:ext>
            </p:extLst>
          </p:nvPr>
        </p:nvGraphicFramePr>
        <p:xfrm>
          <a:off x="411480" y="1737360"/>
          <a:ext cx="5989320" cy="4570167"/>
        </p:xfrm>
        <a:graphic>
          <a:graphicData uri="http://schemas.openxmlformats.org/drawingml/2006/table">
            <a:tbl>
              <a:tblPr/>
              <a:tblGrid>
                <a:gridCol w="17373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8346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41732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217627">
                <a:tc>
                  <a:txBody>
                    <a:bodyPr/>
                    <a:lstStyle/>
                    <a:p>
                      <a:pPr marL="0" indent="0" algn="r" rtl="1">
                        <a:buNone/>
                      </a:pPr>
                      <a:r>
                        <a:rPr lang="he-IL" alt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הערות</a:t>
                      </a:r>
                      <a:endParaRPr lang="he-IL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7E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7E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7E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7E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E1A1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 rtl="1">
                        <a:buNone/>
                      </a:pPr>
                      <a:r>
                        <a:rPr lang="he-IL" alt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סוג רכב</a:t>
                      </a:r>
                      <a:endParaRPr lang="he-IL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7E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7E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7E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7E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E1A1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 rtl="1">
                        <a:buNone/>
                      </a:pPr>
                      <a:r>
                        <a:rPr lang="he-IL" alt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צ'</a:t>
                      </a:r>
                      <a:endParaRPr lang="he-IL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7E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7E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7E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7E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E1A1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17627">
                <a:tc>
                  <a:txBody>
                    <a:bodyPr/>
                    <a:lstStyle/>
                    <a:p>
                      <a:pPr marL="0" indent="0" algn="r" rtl="1">
                        <a:buNone/>
                      </a:pPr>
                      <a:endParaRPr lang="he-IL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D6CF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7E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r" rtl="1">
                        <a:buNone/>
                      </a:pPr>
                      <a:r>
                        <a:rPr lang="he-IL" altLang="en-US" sz="950" dirty="0">
                          <a:solidFill>
                            <a:srgbClr val="2626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האמר גנרי</a:t>
                      </a:r>
                      <a:endParaRPr lang="he-IL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D6CF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7E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r" rtl="1">
                        <a:buNone/>
                      </a:pPr>
                      <a:r>
                        <a:rPr lang="he-IL" altLang="en-US" sz="1000" b="1" dirty="0">
                          <a:solidFill>
                            <a:srgbClr val="2626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702140</a:t>
                      </a:r>
                      <a:endParaRPr lang="he-IL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D6CF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7E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17627">
                <a:tc>
                  <a:txBody>
                    <a:bodyPr/>
                    <a:lstStyle/>
                    <a:p>
                      <a:pPr marL="0" indent="0" algn="r" rtl="1">
                        <a:buNone/>
                      </a:pPr>
                      <a:endParaRPr lang="he-IL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D6CF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4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 rtl="1">
                        <a:buNone/>
                      </a:pPr>
                      <a:r>
                        <a:rPr lang="he-IL" altLang="en-US" sz="950" dirty="0">
                          <a:solidFill>
                            <a:srgbClr val="2626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האמר</a:t>
                      </a:r>
                      <a:endParaRPr lang="he-IL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D6CF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4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 rtl="1">
                        <a:buNone/>
                      </a:pPr>
                      <a:r>
                        <a:rPr lang="he-IL" altLang="en-US" sz="1000" b="1" dirty="0">
                          <a:solidFill>
                            <a:srgbClr val="2626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705472</a:t>
                      </a:r>
                      <a:endParaRPr lang="he-IL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D6CF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4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17627">
                <a:tc>
                  <a:txBody>
                    <a:bodyPr/>
                    <a:lstStyle/>
                    <a:p>
                      <a:pPr marL="0" indent="0" algn="r" rtl="1">
                        <a:buNone/>
                      </a:pPr>
                      <a:endParaRPr lang="he-IL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D6CF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r" rtl="1">
                        <a:buNone/>
                      </a:pPr>
                      <a:r>
                        <a:rPr lang="he-IL" altLang="en-US" sz="950" dirty="0">
                          <a:solidFill>
                            <a:srgbClr val="2626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האמר גנרי</a:t>
                      </a:r>
                      <a:endParaRPr lang="he-IL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D6CF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r" rtl="1">
                        <a:buNone/>
                      </a:pPr>
                      <a:r>
                        <a:rPr lang="he-IL" altLang="en-US" sz="1000" b="1" dirty="0">
                          <a:solidFill>
                            <a:srgbClr val="2626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702692</a:t>
                      </a:r>
                      <a:endParaRPr lang="he-IL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D6CF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17627">
                <a:tc>
                  <a:txBody>
                    <a:bodyPr/>
                    <a:lstStyle/>
                    <a:p>
                      <a:pPr marL="0" indent="0" algn="r" rtl="1">
                        <a:buNone/>
                      </a:pPr>
                      <a:endParaRPr lang="he-IL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D6CF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4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 rtl="1">
                        <a:buNone/>
                      </a:pPr>
                      <a:r>
                        <a:rPr lang="he-IL" altLang="en-US" sz="950" dirty="0">
                          <a:solidFill>
                            <a:srgbClr val="2626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האמר סגן</a:t>
                      </a:r>
                      <a:endParaRPr lang="he-IL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D6CF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4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 rtl="1">
                        <a:buNone/>
                      </a:pPr>
                      <a:r>
                        <a:rPr lang="he-IL" altLang="en-US" sz="1000" b="1" dirty="0">
                          <a:solidFill>
                            <a:srgbClr val="2626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705636</a:t>
                      </a:r>
                      <a:endParaRPr lang="he-IL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D6CF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4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17627">
                <a:tc>
                  <a:txBody>
                    <a:bodyPr/>
                    <a:lstStyle/>
                    <a:p>
                      <a:pPr marL="0" indent="0" algn="r" rtl="1">
                        <a:buNone/>
                      </a:pPr>
                      <a:endParaRPr lang="he-IL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D6CF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r" rtl="1">
                        <a:buNone/>
                      </a:pPr>
                      <a:r>
                        <a:rPr lang="he-IL" altLang="en-US" sz="950" dirty="0">
                          <a:solidFill>
                            <a:srgbClr val="2626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האמר גנרי</a:t>
                      </a:r>
                      <a:endParaRPr lang="he-IL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D6CF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r" rtl="1">
                        <a:buNone/>
                      </a:pPr>
                      <a:r>
                        <a:rPr lang="he-IL" altLang="en-US" sz="1000" b="1" dirty="0">
                          <a:solidFill>
                            <a:srgbClr val="2626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702924</a:t>
                      </a:r>
                      <a:endParaRPr lang="he-IL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D6CF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17627">
                <a:tc>
                  <a:txBody>
                    <a:bodyPr/>
                    <a:lstStyle/>
                    <a:p>
                      <a:pPr marL="0" indent="0" algn="r" rtl="1">
                        <a:buNone/>
                      </a:pPr>
                      <a:endParaRPr lang="he-IL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D6CF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4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 rtl="1">
                        <a:buNone/>
                      </a:pPr>
                      <a:r>
                        <a:rPr lang="he-IL" altLang="en-US" sz="950" dirty="0">
                          <a:solidFill>
                            <a:srgbClr val="2626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האמר גפן</a:t>
                      </a:r>
                      <a:endParaRPr lang="he-IL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D6CF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4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 rtl="1">
                        <a:buNone/>
                      </a:pPr>
                      <a:r>
                        <a:rPr lang="he-IL" altLang="en-US" sz="1000" b="1" dirty="0">
                          <a:solidFill>
                            <a:srgbClr val="2626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700702</a:t>
                      </a:r>
                      <a:endParaRPr lang="he-IL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D6CF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4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17627">
                <a:tc>
                  <a:txBody>
                    <a:bodyPr/>
                    <a:lstStyle/>
                    <a:p>
                      <a:pPr marL="0" indent="0" algn="r" rtl="1">
                        <a:buNone/>
                      </a:pPr>
                      <a:endParaRPr lang="he-IL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D6CF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r" rtl="1">
                        <a:buNone/>
                      </a:pPr>
                      <a:r>
                        <a:rPr lang="he-IL" altLang="en-US" sz="950" dirty="0">
                          <a:solidFill>
                            <a:srgbClr val="2626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האמר גפן</a:t>
                      </a:r>
                      <a:endParaRPr lang="he-IL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D6CF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r" rtl="1">
                        <a:buNone/>
                      </a:pPr>
                      <a:r>
                        <a:rPr lang="he-IL" altLang="en-US" sz="1000" b="1" dirty="0">
                          <a:solidFill>
                            <a:srgbClr val="2626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702285</a:t>
                      </a:r>
                      <a:endParaRPr lang="he-IL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D6CF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17627">
                <a:tc>
                  <a:txBody>
                    <a:bodyPr/>
                    <a:lstStyle/>
                    <a:p>
                      <a:pPr marL="0" indent="0" algn="r" rtl="1">
                        <a:buNone/>
                      </a:pPr>
                      <a:endParaRPr lang="he-IL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D6CF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4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 rtl="1">
                        <a:buNone/>
                      </a:pPr>
                      <a:r>
                        <a:rPr lang="he-IL" altLang="en-US" sz="950" dirty="0">
                          <a:solidFill>
                            <a:srgbClr val="2626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האמר 11 א'</a:t>
                      </a:r>
                      <a:endParaRPr lang="he-IL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D6CF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4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 rtl="1">
                        <a:buNone/>
                      </a:pPr>
                      <a:r>
                        <a:rPr lang="he-IL" altLang="en-US" sz="1000" b="1" dirty="0">
                          <a:solidFill>
                            <a:srgbClr val="2626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703360</a:t>
                      </a:r>
                      <a:endParaRPr lang="he-IL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D6CF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4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217627">
                <a:tc>
                  <a:txBody>
                    <a:bodyPr/>
                    <a:lstStyle/>
                    <a:p>
                      <a:pPr marL="0" indent="0" algn="r" rtl="1">
                        <a:buNone/>
                      </a:pPr>
                      <a:endParaRPr lang="he-IL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D6CF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r" rtl="1">
                        <a:buNone/>
                      </a:pPr>
                      <a:r>
                        <a:rPr lang="he-IL" altLang="en-US" sz="950" dirty="0">
                          <a:solidFill>
                            <a:srgbClr val="2626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האמר חנית (עוקץ)</a:t>
                      </a:r>
                      <a:endParaRPr lang="he-IL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D6CF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r" rtl="1">
                        <a:buNone/>
                      </a:pPr>
                      <a:r>
                        <a:rPr lang="he-IL" altLang="en-US" sz="1000" b="1" dirty="0">
                          <a:solidFill>
                            <a:srgbClr val="2626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702764</a:t>
                      </a:r>
                      <a:endParaRPr lang="he-IL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D6CF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217627">
                <a:tc>
                  <a:txBody>
                    <a:bodyPr/>
                    <a:lstStyle/>
                    <a:p>
                      <a:pPr marL="0" indent="0" algn="r" rtl="1">
                        <a:buNone/>
                      </a:pPr>
                      <a:endParaRPr lang="he-IL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D6CF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4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 rtl="1">
                        <a:buNone/>
                      </a:pPr>
                      <a:r>
                        <a:rPr lang="he-IL" altLang="en-US" sz="950" dirty="0">
                          <a:solidFill>
                            <a:srgbClr val="2626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האמר חנית</a:t>
                      </a:r>
                      <a:endParaRPr lang="he-IL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D6CF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4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 rtl="1">
                        <a:buNone/>
                      </a:pPr>
                      <a:r>
                        <a:rPr lang="he-IL" altLang="en-US" sz="1000" b="1" dirty="0">
                          <a:solidFill>
                            <a:srgbClr val="2626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700646</a:t>
                      </a:r>
                      <a:endParaRPr lang="he-IL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D6CF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4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217627">
                <a:tc>
                  <a:txBody>
                    <a:bodyPr/>
                    <a:lstStyle/>
                    <a:p>
                      <a:pPr marL="0" indent="0" algn="r" rtl="1">
                        <a:buNone/>
                      </a:pPr>
                      <a:endParaRPr lang="he-IL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D6CF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r" rtl="1">
                        <a:buNone/>
                      </a:pPr>
                      <a:r>
                        <a:rPr lang="he-IL" altLang="en-US" sz="950" dirty="0">
                          <a:solidFill>
                            <a:srgbClr val="2626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האמר</a:t>
                      </a:r>
                      <a:endParaRPr lang="he-IL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D6CF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r" rtl="1">
                        <a:buNone/>
                      </a:pPr>
                      <a:r>
                        <a:rPr lang="he-IL" altLang="en-US" sz="1000" b="1" dirty="0">
                          <a:solidFill>
                            <a:srgbClr val="2626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703746</a:t>
                      </a:r>
                      <a:endParaRPr lang="he-IL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D6CF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  <a:tr h="217627">
                <a:tc>
                  <a:txBody>
                    <a:bodyPr/>
                    <a:lstStyle/>
                    <a:p>
                      <a:pPr marL="0" indent="0" algn="r" rtl="1">
                        <a:buNone/>
                      </a:pPr>
                      <a:endParaRPr lang="he-IL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D6CF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4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 rtl="1">
                        <a:buNone/>
                      </a:pPr>
                      <a:r>
                        <a:rPr lang="he-IL" altLang="en-US" sz="950" dirty="0">
                          <a:solidFill>
                            <a:srgbClr val="2626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האמר</a:t>
                      </a:r>
                      <a:endParaRPr lang="he-IL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D6CF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4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 rtl="1">
                        <a:buNone/>
                      </a:pPr>
                      <a:r>
                        <a:rPr lang="he-IL" altLang="en-US" sz="1000" b="1" dirty="0">
                          <a:solidFill>
                            <a:srgbClr val="2626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705584</a:t>
                      </a:r>
                      <a:endParaRPr lang="he-IL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D6CF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4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2"/>
                  </a:ext>
                </a:extLst>
              </a:tr>
              <a:tr h="217627">
                <a:tc>
                  <a:txBody>
                    <a:bodyPr/>
                    <a:lstStyle/>
                    <a:p>
                      <a:pPr marL="0" indent="0" algn="r" rtl="1">
                        <a:buNone/>
                      </a:pPr>
                      <a:endParaRPr lang="he-IL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D6CF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r" rtl="1">
                        <a:buNone/>
                      </a:pPr>
                      <a:r>
                        <a:rPr lang="he-IL" altLang="en-US" sz="950" dirty="0">
                          <a:solidFill>
                            <a:srgbClr val="2626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האמר מנהלה - מסייעת</a:t>
                      </a:r>
                      <a:endParaRPr lang="he-IL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D6CF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r" rtl="1">
                        <a:buNone/>
                      </a:pPr>
                      <a:r>
                        <a:rPr lang="he-IL" altLang="en-US" sz="1000" b="1" dirty="0">
                          <a:solidFill>
                            <a:srgbClr val="2626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705407</a:t>
                      </a:r>
                      <a:endParaRPr lang="he-IL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D6CF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3"/>
                  </a:ext>
                </a:extLst>
              </a:tr>
              <a:tr h="217627">
                <a:tc>
                  <a:txBody>
                    <a:bodyPr/>
                    <a:lstStyle/>
                    <a:p>
                      <a:pPr marL="0" indent="0" algn="r" rtl="1">
                        <a:buNone/>
                      </a:pPr>
                      <a:endParaRPr lang="he-IL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D6CF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4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 rtl="1">
                        <a:buNone/>
                      </a:pPr>
                      <a:r>
                        <a:rPr lang="he-IL" altLang="en-US" sz="950" dirty="0">
                          <a:solidFill>
                            <a:srgbClr val="2626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האמר מנהלה - פלס"מ</a:t>
                      </a:r>
                      <a:endParaRPr lang="he-IL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D6CF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4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 rtl="1">
                        <a:buNone/>
                      </a:pPr>
                      <a:r>
                        <a:rPr lang="he-IL" altLang="en-US" sz="1000" b="1" dirty="0">
                          <a:solidFill>
                            <a:srgbClr val="2626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706272</a:t>
                      </a:r>
                      <a:endParaRPr lang="he-IL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D6CF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4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4"/>
                  </a:ext>
                </a:extLst>
              </a:tr>
              <a:tr h="217627">
                <a:tc>
                  <a:txBody>
                    <a:bodyPr/>
                    <a:lstStyle/>
                    <a:p>
                      <a:pPr marL="0" indent="0" algn="r" rtl="1">
                        <a:buNone/>
                      </a:pPr>
                      <a:endParaRPr lang="he-IL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D6CF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r" rtl="1">
                        <a:buNone/>
                      </a:pPr>
                      <a:r>
                        <a:rPr lang="he-IL" altLang="en-US" sz="950" dirty="0">
                          <a:solidFill>
                            <a:srgbClr val="2626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האמר מנהלה - ב</a:t>
                      </a:r>
                      <a:endParaRPr lang="he-IL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D6CF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r" rtl="1">
                        <a:buNone/>
                      </a:pPr>
                      <a:r>
                        <a:rPr lang="he-IL" altLang="en-US" sz="1000" b="1" dirty="0">
                          <a:solidFill>
                            <a:srgbClr val="2626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705655</a:t>
                      </a:r>
                      <a:endParaRPr lang="he-IL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D6CF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5"/>
                  </a:ext>
                </a:extLst>
              </a:tr>
              <a:tr h="217627">
                <a:tc>
                  <a:txBody>
                    <a:bodyPr/>
                    <a:lstStyle/>
                    <a:p>
                      <a:pPr marL="0" indent="0" algn="r" rtl="1">
                        <a:buNone/>
                      </a:pPr>
                      <a:endParaRPr lang="he-IL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D6CF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4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 rtl="1">
                        <a:buNone/>
                      </a:pPr>
                      <a:r>
                        <a:rPr lang="he-IL" altLang="en-US" sz="950" dirty="0">
                          <a:solidFill>
                            <a:srgbClr val="2626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האמר 13 א'</a:t>
                      </a:r>
                      <a:endParaRPr lang="he-IL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D6CF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4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 rtl="1">
                        <a:buNone/>
                      </a:pPr>
                      <a:r>
                        <a:rPr lang="he-IL" altLang="en-US" sz="1000" b="1" dirty="0">
                          <a:solidFill>
                            <a:srgbClr val="2626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702177</a:t>
                      </a:r>
                      <a:endParaRPr lang="he-IL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D6CF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4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6"/>
                  </a:ext>
                </a:extLst>
              </a:tr>
              <a:tr h="217627">
                <a:tc>
                  <a:txBody>
                    <a:bodyPr/>
                    <a:lstStyle/>
                    <a:p>
                      <a:pPr marL="0" indent="0" algn="r" rtl="1">
                        <a:buNone/>
                      </a:pPr>
                      <a:endParaRPr lang="he-IL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D6CF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r" rtl="1">
                        <a:buNone/>
                      </a:pPr>
                      <a:r>
                        <a:rPr lang="he-IL" altLang="en-US" sz="950" dirty="0">
                          <a:solidFill>
                            <a:srgbClr val="2626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האמר</a:t>
                      </a:r>
                      <a:endParaRPr lang="he-IL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D6CF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r" rtl="1">
                        <a:buNone/>
                      </a:pPr>
                      <a:r>
                        <a:rPr lang="he-IL" altLang="en-US" sz="1000" b="1" dirty="0">
                          <a:solidFill>
                            <a:srgbClr val="2626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702256</a:t>
                      </a:r>
                      <a:endParaRPr lang="he-IL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D6CF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7"/>
                  </a:ext>
                </a:extLst>
              </a:tr>
              <a:tr h="217627">
                <a:tc>
                  <a:txBody>
                    <a:bodyPr/>
                    <a:lstStyle/>
                    <a:p>
                      <a:pPr marL="0" indent="0" algn="r" rtl="1">
                        <a:buNone/>
                      </a:pPr>
                      <a:endParaRPr lang="he-IL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D6CF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4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 rtl="1">
                        <a:buNone/>
                      </a:pPr>
                      <a:r>
                        <a:rPr lang="he-IL" altLang="en-US" sz="950" dirty="0">
                          <a:solidFill>
                            <a:srgbClr val="2626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האמר מפקד</a:t>
                      </a:r>
                      <a:endParaRPr lang="he-IL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D6CF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4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 rtl="1">
                        <a:buNone/>
                      </a:pPr>
                      <a:r>
                        <a:rPr lang="he-IL" altLang="en-US" sz="1000" b="1" dirty="0">
                          <a:solidFill>
                            <a:srgbClr val="2626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705337</a:t>
                      </a:r>
                      <a:endParaRPr lang="he-IL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D6CF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4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8"/>
                  </a:ext>
                </a:extLst>
              </a:tr>
              <a:tr h="217627">
                <a:tc>
                  <a:txBody>
                    <a:bodyPr/>
                    <a:lstStyle/>
                    <a:p>
                      <a:pPr marL="0" indent="0" algn="r" rtl="1">
                        <a:buNone/>
                      </a:pPr>
                      <a:endParaRPr lang="he-IL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D6CF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r" rtl="1">
                        <a:buNone/>
                      </a:pPr>
                      <a:r>
                        <a:rPr lang="he-IL" altLang="en-US" sz="950" dirty="0">
                          <a:solidFill>
                            <a:srgbClr val="2626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האמר מנהלה - ג</a:t>
                      </a:r>
                      <a:endParaRPr lang="he-IL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D6CF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r" rtl="1">
                        <a:buNone/>
                      </a:pPr>
                      <a:r>
                        <a:rPr lang="he-IL" altLang="en-US" sz="1000" b="1" dirty="0">
                          <a:solidFill>
                            <a:srgbClr val="2626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705897</a:t>
                      </a:r>
                      <a:endParaRPr lang="he-IL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D6CF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9"/>
                  </a:ext>
                </a:extLst>
              </a:tr>
              <a:tr h="217627">
                <a:tc>
                  <a:txBody>
                    <a:bodyPr/>
                    <a:lstStyle/>
                    <a:p>
                      <a:pPr marL="0" indent="0" algn="r" rtl="1">
                        <a:buNone/>
                      </a:pPr>
                      <a:endParaRPr lang="he-IL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D6CF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4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 rtl="1">
                        <a:buNone/>
                      </a:pPr>
                      <a:r>
                        <a:rPr lang="he-IL" altLang="en-US" sz="950" dirty="0">
                          <a:solidFill>
                            <a:srgbClr val="2626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האמר 10 א'</a:t>
                      </a:r>
                      <a:endParaRPr lang="he-IL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D6CF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4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 rtl="1">
                        <a:buNone/>
                      </a:pPr>
                      <a:r>
                        <a:rPr lang="he-IL" altLang="en-US" sz="1000" b="1" dirty="0">
                          <a:solidFill>
                            <a:srgbClr val="2626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702189</a:t>
                      </a:r>
                      <a:endParaRPr lang="he-IL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D6CF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4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20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1137392" y="320040"/>
            <a:ext cx="566928" cy="566928"/>
          </a:xfrm>
          <a:prstGeom prst="rect">
            <a:avLst/>
          </a:prstGeom>
          <a:solidFill>
            <a:srgbClr val="9B1B1F"/>
          </a:solidFill>
          <a:ln/>
        </p:spPr>
        <p:txBody>
          <a:bodyPr/>
          <a:lstStyle/>
          <a:p>
            <a:endParaRPr lang="he-IL"/>
          </a:p>
        </p:txBody>
      </p:sp>
      <p:sp>
        <p:nvSpPr>
          <p:cNvPr id="3" name="Text 1"/>
          <p:cNvSpPr txBox="1"/>
          <p:nvPr/>
        </p:nvSpPr>
        <p:spPr>
          <a:xfrm>
            <a:off x="11137392" y="32004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 rtl="1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24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274320"/>
            <a:ext cx="1040587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3000" b="1" dirty="0">
                <a:solidFill>
                  <a:srgbClr val="2626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‏כוח </a:t>
            </a:r>
            <a:r>
              <a:rPr lang="en-US" sz="3000" b="1" dirty="0" err="1">
                <a:solidFill>
                  <a:srgbClr val="2626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אדם</a:t>
            </a:r>
            <a:r>
              <a:rPr lang="en-US" sz="3000" b="1" dirty="0">
                <a:solidFill>
                  <a:srgbClr val="2626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– </a:t>
            </a:r>
            <a:r>
              <a:rPr lang="he-IL" sz="3000" b="1" dirty="0">
                <a:solidFill>
                  <a:srgbClr val="2626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שבוע מאסף + שבוע חזרה לכוננות וארגון </a:t>
            </a:r>
            <a:r>
              <a:rPr lang="he-IL" sz="3000" b="1" dirty="0" err="1">
                <a:solidFill>
                  <a:srgbClr val="2626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הימ"ח</a:t>
            </a:r>
            <a:r>
              <a:rPr lang="he-IL" sz="3000" b="1" dirty="0">
                <a:solidFill>
                  <a:srgbClr val="2626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endParaRPr lang="en-US" sz="30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896112"/>
            <a:ext cx="104058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 rtl="1">
              <a:buNone/>
            </a:pPr>
            <a:r>
              <a:rPr lang="en-US" sz="1400" dirty="0">
                <a:solidFill>
                  <a:srgbClr val="5858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‏חלוקה לפי </a:t>
            </a:r>
            <a:r>
              <a:rPr lang="en-US" sz="1400" dirty="0" err="1">
                <a:solidFill>
                  <a:srgbClr val="5858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מחלקות</a:t>
            </a:r>
            <a:r>
              <a:rPr lang="en-US" sz="1400" dirty="0">
                <a:solidFill>
                  <a:srgbClr val="5858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r>
              <a:rPr lang="en-US" sz="1400" dirty="0" err="1">
                <a:solidFill>
                  <a:srgbClr val="5858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וימים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 rtl="1">
              <a:buNone/>
            </a:pPr>
            <a:r>
              <a:rPr lang="en-US" sz="900" dirty="0">
                <a:solidFill>
                  <a:srgbClr val="9A9AA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‏גדוד 28 | תוכנית ירידה מתע"מ לבנון | בלמ"ס</a:t>
            </a:r>
            <a:endParaRPr lang="en-US" sz="900" dirty="0"/>
          </a:p>
        </p:txBody>
      </p:sp>
      <p:pic>
        <p:nvPicPr>
          <p:cNvPr id="7" name="Image 0" descr="/tmp/claude-0/-home-user-fast-battalion/27bfe9ab-8bf6-55dd-87d9-f6bc8892020b/scratchpad/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7160" y="137160"/>
            <a:ext cx="474329" cy="658368"/>
          </a:xfrm>
          <a:prstGeom prst="rect">
            <a:avLst/>
          </a:prstGeom>
        </p:spPr>
      </p:pic>
      <p:graphicFrame>
        <p:nvGraphicFramePr>
          <p:cNvPr id="900" name="KoachAdamXlsx"/>
          <p:cNvGraphicFramePr/>
          <p:nvPr>
            <p:extLst>
              <p:ext uri="{D42A27DB-BD31-4B8C-83A1-F6EECF244321}">
                <p14:modId xmlns:p14="http://schemas.microsoft.com/office/powerpoint/2010/main" val="662022645"/>
              </p:ext>
            </p:extLst>
          </p:nvPr>
        </p:nvGraphicFramePr>
        <p:xfrm>
          <a:off x="549275" y="1271588"/>
          <a:ext cx="11422063" cy="493077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Worksheet" r:id="rId4" imgW="12093046" imgH="4930124" progId="Excel.Sheet.12">
                  <p:embed/>
                </p:oleObj>
              </mc:Choice>
              <mc:Fallback>
                <p:oleObj name="Worksheet" r:id="rId4" imgW="12093046" imgH="4930124" progId="Excel.Sheet.12">
                  <p:embed/>
                  <p:pic>
                    <p:nvPicPr>
                      <p:cNvPr id="900" name="KoachAdamXlsx"/>
                      <p:cNvPicPr/>
                      <p:nvPr/>
                    </p:nvPicPr>
                    <p:blipFill>
                      <a:blip r:embed="rId5"/>
                      <a:stretch>
                        <a:fillRect/>
                      </a:stretch>
                    </p:blipFill>
                    <p:spPr>
                      <a:xfrm>
                        <a:off x="549275" y="1271588"/>
                        <a:ext cx="11422063" cy="493077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9" name="תיבת טקסט 8">
            <a:extLst>
              <a:ext uri="{FF2B5EF4-FFF2-40B4-BE49-F238E27FC236}">
                <a16:creationId xmlns:a16="http://schemas.microsoft.com/office/drawing/2014/main" id="{1E1035C9-0A68-1AA8-3D43-0293E4979C2C}"/>
              </a:ext>
            </a:extLst>
          </p:cNvPr>
          <p:cNvSpPr txBox="1"/>
          <p:nvPr/>
        </p:nvSpPr>
        <p:spPr>
          <a:xfrm>
            <a:off x="3989018" y="6261854"/>
            <a:ext cx="5445722" cy="369332"/>
          </a:xfrm>
          <a:prstGeom prst="rect">
            <a:avLst/>
          </a:prstGeom>
          <a:noFill/>
        </p:spPr>
        <p:txBody>
          <a:bodyPr wrap="none" rtlCol="1">
            <a:spAutoFit/>
          </a:bodyPr>
          <a:lstStyle/>
          <a:p>
            <a:r>
              <a:rPr lang="he-IL" dirty="0">
                <a:highlight>
                  <a:srgbClr val="FFFF00"/>
                </a:highlight>
              </a:rPr>
              <a:t>חיילים מגויסים במהלך התעסוקה: 631 מתוכם 21 מסופחים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1137392" y="320040"/>
            <a:ext cx="566928" cy="566928"/>
          </a:xfrm>
          <a:prstGeom prst="rect">
            <a:avLst/>
          </a:prstGeom>
          <a:solidFill>
            <a:srgbClr val="9B1B1F"/>
          </a:solidFill>
          <a:ln/>
        </p:spPr>
        <p:txBody>
          <a:bodyPr/>
          <a:lstStyle/>
          <a:p>
            <a:endParaRPr lang="he-IL"/>
          </a:p>
        </p:txBody>
      </p:sp>
      <p:sp>
        <p:nvSpPr>
          <p:cNvPr id="3" name="Text 1"/>
          <p:cNvSpPr txBox="1"/>
          <p:nvPr/>
        </p:nvSpPr>
        <p:spPr>
          <a:xfrm>
            <a:off x="11137392" y="32004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 rtl="1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24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274320"/>
            <a:ext cx="1040587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3000" b="1" dirty="0">
                <a:solidFill>
                  <a:srgbClr val="2626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‏פערים לחזרה לכשירות</a:t>
            </a:r>
            <a:endParaRPr lang="en-US" sz="30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896112"/>
            <a:ext cx="104058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 rtl="1">
              <a:buNone/>
            </a:pPr>
            <a:r>
              <a:rPr lang="en-US" sz="1400" dirty="0">
                <a:solidFill>
                  <a:srgbClr val="5858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‏פערים מרכזיים להצפה במסגרת החזרה לכשירות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 rtl="1">
              <a:buNone/>
            </a:pPr>
            <a:r>
              <a:rPr lang="en-US" sz="900" dirty="0">
                <a:solidFill>
                  <a:srgbClr val="9A9AA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‏גדוד 28 | תוכנית ירידה מתע"מ לבנון | בלמ"ס</a:t>
            </a:r>
            <a:endParaRPr lang="en-US" sz="900" dirty="0"/>
          </a:p>
        </p:txBody>
      </p:sp>
      <p:pic>
        <p:nvPicPr>
          <p:cNvPr id="7" name="Image 0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7160" y="137160"/>
            <a:ext cx="474329" cy="658368"/>
          </a:xfrm>
          <a:prstGeom prst="rect">
            <a:avLst/>
          </a:prstGeom>
        </p:spPr>
      </p:pic>
      <p:sp>
        <p:nvSpPr>
          <p:cNvPr id="8" name="Card 1 bg"/>
          <p:cNvSpPr/>
          <p:nvPr/>
        </p:nvSpPr>
        <p:spPr>
          <a:xfrm>
            <a:off x="548640" y="1380000"/>
            <a:ext cx="10588752" cy="900000"/>
          </a:xfrm>
          <a:prstGeom prst="roundRect">
            <a:avLst>
              <a:gd name="adj" fmla="val 5217"/>
            </a:avLst>
          </a:prstGeom>
          <a:solidFill>
            <a:srgbClr val="F2F2F2"/>
          </a:solidFill>
          <a:ln/>
        </p:spPr>
        <p:txBody>
          <a:bodyPr/>
          <a:lstStyle/>
          <a:p>
            <a:endParaRPr lang="he-IL"/>
          </a:p>
        </p:txBody>
      </p:sp>
      <p:sp>
        <p:nvSpPr>
          <p:cNvPr id="9" name="Card 1 pill"/>
          <p:cNvSpPr/>
          <p:nvPr/>
        </p:nvSpPr>
        <p:spPr>
          <a:xfrm>
            <a:off x="9171432" y="1624260"/>
            <a:ext cx="1783080" cy="411480"/>
          </a:xfrm>
          <a:prstGeom prst="roundRect">
            <a:avLst>
              <a:gd name="adj" fmla="val 13333"/>
            </a:avLst>
          </a:prstGeom>
          <a:solidFill>
            <a:srgbClr val="9B1B1F"/>
          </a:solidFill>
          <a:ln/>
        </p:spPr>
        <p:txBody>
          <a:bodyPr/>
          <a:lstStyle/>
          <a:p>
            <a:endParaRPr lang="he-IL"/>
          </a:p>
        </p:txBody>
      </p:sp>
      <p:sp>
        <p:nvSpPr>
          <p:cNvPr id="10" name="Card 1 pill text"/>
          <p:cNvSpPr txBox="1"/>
          <p:nvPr/>
        </p:nvSpPr>
        <p:spPr>
          <a:xfrm>
            <a:off x="9171432" y="1624260"/>
            <a:ext cx="1783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 rtl="1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‏ציוד אמסל"ח</a:t>
            </a:r>
            <a:endParaRPr lang="en-US" sz="1300" dirty="0"/>
          </a:p>
        </p:txBody>
      </p:sp>
      <p:sp>
        <p:nvSpPr>
          <p:cNvPr id="11" name="Card 1 text"/>
          <p:cNvSpPr txBox="1"/>
          <p:nvPr/>
        </p:nvSpPr>
        <p:spPr>
          <a:xfrm>
            <a:off x="731520" y="1440000"/>
            <a:ext cx="8211312" cy="78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250" b="1" dirty="0">
                <a:solidFill>
                  <a:srgbClr val="2626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‏אין לגדוד ציוד לקליטת חיילים חדשים - בנוסף לחוסר המצטבר מתחילת התעסוקה.</a:t>
            </a:r>
            <a:endParaRPr lang="en-US" sz="1250" dirty="0"/>
          </a:p>
          <a:p>
            <a:pPr marL="0" indent="0" algn="r" rtl="1">
              <a:buNone/>
            </a:pPr>
            <a:r>
              <a:rPr lang="en-US" sz="1250" dirty="0">
                <a:solidFill>
                  <a:srgbClr val="2626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‏חסרה משאית רענון לסוף התעסוקה - חילוף נעליים, מדים ווסטים | כ־150‏ מזרנים לא יחזרו מלבנון עקב פשפשים.</a:t>
            </a:r>
            <a:endParaRPr lang="en-US" sz="1250" dirty="0"/>
          </a:p>
        </p:txBody>
      </p:sp>
      <p:sp>
        <p:nvSpPr>
          <p:cNvPr id="12" name="Card 2 bg"/>
          <p:cNvSpPr/>
          <p:nvPr/>
        </p:nvSpPr>
        <p:spPr>
          <a:xfrm>
            <a:off x="548640" y="2385000"/>
            <a:ext cx="10588752" cy="900000"/>
          </a:xfrm>
          <a:prstGeom prst="roundRect">
            <a:avLst>
              <a:gd name="adj" fmla="val 5217"/>
            </a:avLst>
          </a:prstGeom>
          <a:solidFill>
            <a:srgbClr val="F2F2F2"/>
          </a:solidFill>
          <a:ln/>
        </p:spPr>
        <p:txBody>
          <a:bodyPr/>
          <a:lstStyle/>
          <a:p>
            <a:endParaRPr lang="he-IL"/>
          </a:p>
        </p:txBody>
      </p:sp>
      <p:sp>
        <p:nvSpPr>
          <p:cNvPr id="13" name="Card 2 pill"/>
          <p:cNvSpPr/>
          <p:nvPr/>
        </p:nvSpPr>
        <p:spPr>
          <a:xfrm>
            <a:off x="9171432" y="2629260"/>
            <a:ext cx="1783080" cy="411480"/>
          </a:xfrm>
          <a:prstGeom prst="roundRect">
            <a:avLst>
              <a:gd name="adj" fmla="val 13333"/>
            </a:avLst>
          </a:prstGeom>
          <a:solidFill>
            <a:srgbClr val="9B1B1F"/>
          </a:solidFill>
          <a:ln/>
        </p:spPr>
        <p:txBody>
          <a:bodyPr/>
          <a:lstStyle/>
          <a:p>
            <a:endParaRPr lang="he-IL"/>
          </a:p>
        </p:txBody>
      </p:sp>
      <p:sp>
        <p:nvSpPr>
          <p:cNvPr id="14" name="Card 2 pill text"/>
          <p:cNvSpPr txBox="1"/>
          <p:nvPr/>
        </p:nvSpPr>
        <p:spPr>
          <a:xfrm>
            <a:off x="9171432" y="2629260"/>
            <a:ext cx="1783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 rtl="1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‏הסמכות</a:t>
            </a:r>
            <a:endParaRPr lang="en-US" sz="1300" dirty="0"/>
          </a:p>
        </p:txBody>
      </p:sp>
      <p:sp>
        <p:nvSpPr>
          <p:cNvPr id="15" name="Card 2 text"/>
          <p:cNvSpPr txBox="1"/>
          <p:nvPr/>
        </p:nvSpPr>
        <p:spPr>
          <a:xfrm>
            <a:off x="731520" y="2445000"/>
            <a:ext cx="8211312" cy="78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250" b="1" dirty="0">
                <a:solidFill>
                  <a:srgbClr val="2626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‏הסמכות זיג 7‏: כיום 20‏ מוסמכים בלבד ל־20‏ נשקים.</a:t>
            </a:r>
            <a:endParaRPr lang="en-US" sz="1250" dirty="0"/>
          </a:p>
          <a:p>
            <a:pPr marL="0" indent="0" algn="r" rtl="1">
              <a:buNone/>
            </a:pPr>
            <a:r>
              <a:rPr lang="en-US" sz="1250" dirty="0">
                <a:solidFill>
                  <a:srgbClr val="2626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‏ככל שיילקחו כלל הנגבים </a:t>
            </a:r>
            <a:r>
              <a:rPr lang="en-US" sz="1250" dirty="0" err="1">
                <a:solidFill>
                  <a:srgbClr val="2626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מהגדוד</a:t>
            </a:r>
            <a:r>
              <a:rPr lang="en-US" sz="1250" dirty="0">
                <a:solidFill>
                  <a:srgbClr val="2626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33‏ </a:t>
            </a:r>
            <a:r>
              <a:rPr lang="en-US" sz="1250" dirty="0" err="1">
                <a:solidFill>
                  <a:srgbClr val="2626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במספר</a:t>
            </a:r>
            <a:r>
              <a:rPr lang="en-US" sz="1250" dirty="0">
                <a:solidFill>
                  <a:srgbClr val="2626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r>
              <a:rPr lang="en-US" sz="1250" dirty="0" err="1">
                <a:solidFill>
                  <a:srgbClr val="2626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נדרשת</a:t>
            </a:r>
            <a:r>
              <a:rPr lang="en-US" sz="1250" dirty="0">
                <a:solidFill>
                  <a:srgbClr val="2626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הכשרת חיילים </a:t>
            </a:r>
            <a:r>
              <a:rPr lang="en-US" sz="1250" dirty="0" err="1">
                <a:solidFill>
                  <a:srgbClr val="2626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נוספים</a:t>
            </a:r>
            <a:r>
              <a:rPr lang="en-US" sz="1250" dirty="0">
                <a:solidFill>
                  <a:srgbClr val="2626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r>
              <a:rPr lang="en-US" sz="1250" dirty="0" err="1">
                <a:solidFill>
                  <a:srgbClr val="2626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לזיג</a:t>
            </a:r>
            <a:r>
              <a:rPr lang="he-IL" sz="1250" dirty="0">
                <a:solidFill>
                  <a:srgbClr val="2626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r>
              <a:rPr lang="en-US" sz="1250" dirty="0">
                <a:solidFill>
                  <a:srgbClr val="2626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he-IL" sz="1250" dirty="0">
              <a:solidFill>
                <a:srgbClr val="26262B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  <a:p>
            <a:pPr marL="0" indent="0" algn="r" rtl="1">
              <a:buNone/>
            </a:pPr>
            <a:r>
              <a:rPr lang="he-IL" sz="1250" b="1" dirty="0">
                <a:solidFill>
                  <a:srgbClr val="2626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הסמכות נהיגה</a:t>
            </a:r>
            <a:endParaRPr lang="en-US" sz="1250" b="1" dirty="0"/>
          </a:p>
        </p:txBody>
      </p:sp>
      <p:sp>
        <p:nvSpPr>
          <p:cNvPr id="16" name="Card 3 bg"/>
          <p:cNvSpPr/>
          <p:nvPr/>
        </p:nvSpPr>
        <p:spPr>
          <a:xfrm>
            <a:off x="548640" y="3390000"/>
            <a:ext cx="10588752" cy="900000"/>
          </a:xfrm>
          <a:prstGeom prst="roundRect">
            <a:avLst>
              <a:gd name="adj" fmla="val 5217"/>
            </a:avLst>
          </a:prstGeom>
          <a:solidFill>
            <a:srgbClr val="F2F2F2"/>
          </a:solidFill>
          <a:ln/>
        </p:spPr>
        <p:txBody>
          <a:bodyPr/>
          <a:lstStyle/>
          <a:p>
            <a:endParaRPr lang="he-IL"/>
          </a:p>
        </p:txBody>
      </p:sp>
      <p:sp>
        <p:nvSpPr>
          <p:cNvPr id="17" name="Card 3 pill"/>
          <p:cNvSpPr/>
          <p:nvPr/>
        </p:nvSpPr>
        <p:spPr>
          <a:xfrm>
            <a:off x="9171432" y="3634260"/>
            <a:ext cx="1783080" cy="411480"/>
          </a:xfrm>
          <a:prstGeom prst="roundRect">
            <a:avLst>
              <a:gd name="adj" fmla="val 13333"/>
            </a:avLst>
          </a:prstGeom>
          <a:solidFill>
            <a:srgbClr val="9B1B1F"/>
          </a:solidFill>
          <a:ln/>
        </p:spPr>
        <p:txBody>
          <a:bodyPr/>
          <a:lstStyle/>
          <a:p>
            <a:endParaRPr lang="he-IL"/>
          </a:p>
        </p:txBody>
      </p:sp>
      <p:sp>
        <p:nvSpPr>
          <p:cNvPr id="18" name="Card 3 pill text"/>
          <p:cNvSpPr txBox="1"/>
          <p:nvPr/>
        </p:nvSpPr>
        <p:spPr>
          <a:xfrm>
            <a:off x="9171432" y="3634260"/>
            <a:ext cx="1783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 rtl="1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‏חימוש</a:t>
            </a:r>
            <a:endParaRPr lang="en-US" sz="1300" dirty="0"/>
          </a:p>
        </p:txBody>
      </p:sp>
      <p:sp>
        <p:nvSpPr>
          <p:cNvPr id="19" name="Card 3 text"/>
          <p:cNvSpPr txBox="1"/>
          <p:nvPr/>
        </p:nvSpPr>
        <p:spPr>
          <a:xfrm>
            <a:off x="731520" y="3450000"/>
            <a:ext cx="8211312" cy="78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250" dirty="0">
                <a:solidFill>
                  <a:srgbClr val="2626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‏</a:t>
            </a:r>
            <a:r>
              <a:rPr lang="he-IL" sz="1250" dirty="0">
                <a:solidFill>
                  <a:srgbClr val="2626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חוסר ב</a:t>
            </a:r>
            <a:r>
              <a:rPr lang="en-US" sz="1250" dirty="0" err="1">
                <a:solidFill>
                  <a:srgbClr val="2626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פק"ל</a:t>
            </a:r>
            <a:r>
              <a:rPr lang="en-US" sz="1250" dirty="0">
                <a:solidFill>
                  <a:srgbClr val="2626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r>
              <a:rPr lang="en-US" sz="1250" dirty="0" err="1">
                <a:solidFill>
                  <a:srgbClr val="2626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שמנים</a:t>
            </a:r>
            <a:r>
              <a:rPr lang="en-US" sz="1250" dirty="0">
                <a:solidFill>
                  <a:srgbClr val="2626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r>
              <a:rPr lang="en-US" sz="1250" dirty="0" err="1">
                <a:solidFill>
                  <a:srgbClr val="2626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בימ"ח</a:t>
            </a:r>
            <a:r>
              <a:rPr lang="he-IL" sz="1250" dirty="0">
                <a:solidFill>
                  <a:srgbClr val="2626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 </a:t>
            </a:r>
            <a:endParaRPr lang="en-US" sz="1250" dirty="0">
              <a:solidFill>
                <a:srgbClr val="26262B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  <a:p>
            <a:pPr marL="0" indent="0" algn="r" rtl="1">
              <a:buNone/>
            </a:pPr>
            <a:r>
              <a:rPr lang="en-US" sz="1250" dirty="0" err="1">
                <a:solidFill>
                  <a:srgbClr val="2626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אושקוש</a:t>
            </a:r>
            <a:r>
              <a:rPr lang="en-US" sz="1250" dirty="0">
                <a:solidFill>
                  <a:srgbClr val="2626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r>
              <a:rPr lang="en-US" sz="1250" dirty="0" err="1">
                <a:solidFill>
                  <a:srgbClr val="2626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טרם</a:t>
            </a:r>
            <a:r>
              <a:rPr lang="en-US" sz="1250" dirty="0">
                <a:solidFill>
                  <a:srgbClr val="2626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ירד </a:t>
            </a:r>
            <a:r>
              <a:rPr lang="en-US" sz="1250" dirty="0" err="1">
                <a:solidFill>
                  <a:srgbClr val="2626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מחצרות</a:t>
            </a:r>
            <a:r>
              <a:rPr lang="en-US" sz="1250" dirty="0">
                <a:solidFill>
                  <a:srgbClr val="2626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r>
              <a:rPr lang="en-US" sz="1250" dirty="0" err="1">
                <a:solidFill>
                  <a:srgbClr val="2626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יסף</a:t>
            </a:r>
            <a:r>
              <a:rPr lang="en-US" sz="1250" dirty="0">
                <a:solidFill>
                  <a:srgbClr val="2626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endParaRPr lang="he-IL" sz="1250" dirty="0">
              <a:solidFill>
                <a:srgbClr val="26262B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  <a:p>
            <a:pPr marL="0" indent="0" algn="r" rtl="1">
              <a:buNone/>
            </a:pPr>
            <a:r>
              <a:rPr lang="he-IL" sz="1250" dirty="0">
                <a:solidFill>
                  <a:srgbClr val="2626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האמר 415 בסדנה </a:t>
            </a:r>
            <a:r>
              <a:rPr lang="he-IL" sz="1250" dirty="0" err="1">
                <a:solidFill>
                  <a:srgbClr val="2626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בציפורית</a:t>
            </a:r>
            <a:r>
              <a:rPr lang="he-IL" sz="1250" dirty="0">
                <a:solidFill>
                  <a:srgbClr val="2626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</a:t>
            </a:r>
            <a:endParaRPr lang="en-US" sz="1250" dirty="0"/>
          </a:p>
        </p:txBody>
      </p:sp>
      <p:sp>
        <p:nvSpPr>
          <p:cNvPr id="20" name="Card 4 bg"/>
          <p:cNvSpPr/>
          <p:nvPr/>
        </p:nvSpPr>
        <p:spPr>
          <a:xfrm>
            <a:off x="548640" y="4395000"/>
            <a:ext cx="10588752" cy="900000"/>
          </a:xfrm>
          <a:prstGeom prst="roundRect">
            <a:avLst>
              <a:gd name="adj" fmla="val 5217"/>
            </a:avLst>
          </a:prstGeom>
          <a:solidFill>
            <a:srgbClr val="F2F2F2"/>
          </a:solidFill>
          <a:ln/>
        </p:spPr>
        <p:txBody>
          <a:bodyPr/>
          <a:lstStyle/>
          <a:p>
            <a:endParaRPr lang="he-IL"/>
          </a:p>
        </p:txBody>
      </p:sp>
      <p:sp>
        <p:nvSpPr>
          <p:cNvPr id="21" name="Card 4 pill"/>
          <p:cNvSpPr/>
          <p:nvPr/>
        </p:nvSpPr>
        <p:spPr>
          <a:xfrm>
            <a:off x="9171432" y="4639260"/>
            <a:ext cx="1783080" cy="411480"/>
          </a:xfrm>
          <a:prstGeom prst="roundRect">
            <a:avLst>
              <a:gd name="adj" fmla="val 13333"/>
            </a:avLst>
          </a:prstGeom>
          <a:solidFill>
            <a:srgbClr val="9B1B1F"/>
          </a:solidFill>
          <a:ln/>
        </p:spPr>
        <p:txBody>
          <a:bodyPr/>
          <a:lstStyle/>
          <a:p>
            <a:endParaRPr lang="he-IL"/>
          </a:p>
        </p:txBody>
      </p:sp>
      <p:sp>
        <p:nvSpPr>
          <p:cNvPr id="22" name="Card 4 pill text"/>
          <p:cNvSpPr txBox="1"/>
          <p:nvPr/>
        </p:nvSpPr>
        <p:spPr>
          <a:xfrm>
            <a:off x="9171432" y="4639260"/>
            <a:ext cx="1783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 rtl="1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‏תחמושת</a:t>
            </a:r>
            <a:endParaRPr lang="en-US" sz="1300" dirty="0"/>
          </a:p>
        </p:txBody>
      </p:sp>
      <p:sp>
        <p:nvSpPr>
          <p:cNvPr id="23" name="Card 4 text"/>
          <p:cNvSpPr txBox="1"/>
          <p:nvPr/>
        </p:nvSpPr>
        <p:spPr>
          <a:xfrm>
            <a:off x="731520" y="4455000"/>
            <a:ext cx="8211312" cy="78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250" b="1" dirty="0">
                <a:solidFill>
                  <a:srgbClr val="2626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‏הגדוד יורד מהתע"מ ללא השלמת שצ"ל | ירידה לבילו ללא תחמושת מאג כלל.</a:t>
            </a:r>
            <a:endParaRPr lang="en-US" sz="1250" dirty="0"/>
          </a:p>
          <a:p>
            <a:pPr marL="0" indent="0" algn="r" rtl="1">
              <a:buNone/>
            </a:pPr>
            <a:r>
              <a:rPr lang="en-US" sz="1250" dirty="0">
                <a:solidFill>
                  <a:srgbClr val="2626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‏</a:t>
            </a:r>
            <a:r>
              <a:rPr lang="he-IL" sz="1250" dirty="0">
                <a:solidFill>
                  <a:srgbClr val="2626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זיכוי</a:t>
            </a:r>
            <a:r>
              <a:rPr lang="en-US" sz="1250" dirty="0">
                <a:solidFill>
                  <a:srgbClr val="2626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r>
              <a:rPr lang="en-US" sz="1250" dirty="0" err="1">
                <a:solidFill>
                  <a:srgbClr val="2626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כלל</a:t>
            </a:r>
            <a:r>
              <a:rPr lang="en-US" sz="1250" dirty="0">
                <a:solidFill>
                  <a:srgbClr val="2626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תחמושת 5.56‏ המשורשרת.</a:t>
            </a:r>
            <a:endParaRPr lang="en-US" sz="1250" dirty="0"/>
          </a:p>
        </p:txBody>
      </p:sp>
      <p:sp>
        <p:nvSpPr>
          <p:cNvPr id="24" name="Card 5 bg"/>
          <p:cNvSpPr/>
          <p:nvPr/>
        </p:nvSpPr>
        <p:spPr>
          <a:xfrm>
            <a:off x="548640" y="5400000"/>
            <a:ext cx="10588752" cy="900000"/>
          </a:xfrm>
          <a:prstGeom prst="roundRect">
            <a:avLst>
              <a:gd name="adj" fmla="val 5217"/>
            </a:avLst>
          </a:prstGeom>
          <a:solidFill>
            <a:srgbClr val="F2F2F2"/>
          </a:solidFill>
          <a:ln/>
        </p:spPr>
        <p:txBody>
          <a:bodyPr/>
          <a:lstStyle/>
          <a:p>
            <a:endParaRPr lang="he-IL"/>
          </a:p>
        </p:txBody>
      </p:sp>
      <p:sp>
        <p:nvSpPr>
          <p:cNvPr id="25" name="Card 5 pill"/>
          <p:cNvSpPr/>
          <p:nvPr/>
        </p:nvSpPr>
        <p:spPr>
          <a:xfrm>
            <a:off x="9171432" y="5644260"/>
            <a:ext cx="1783080" cy="411480"/>
          </a:xfrm>
          <a:prstGeom prst="roundRect">
            <a:avLst>
              <a:gd name="adj" fmla="val 13333"/>
            </a:avLst>
          </a:prstGeom>
          <a:solidFill>
            <a:srgbClr val="9B1B1F"/>
          </a:solidFill>
          <a:ln/>
        </p:spPr>
        <p:txBody>
          <a:bodyPr/>
          <a:lstStyle/>
          <a:p>
            <a:endParaRPr lang="he-IL"/>
          </a:p>
        </p:txBody>
      </p:sp>
      <p:sp>
        <p:nvSpPr>
          <p:cNvPr id="26" name="Card 5 pill text"/>
          <p:cNvSpPr txBox="1"/>
          <p:nvPr/>
        </p:nvSpPr>
        <p:spPr>
          <a:xfrm>
            <a:off x="9171432" y="5644260"/>
            <a:ext cx="1783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 rtl="1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‏אחסון בארמו"ן</a:t>
            </a:r>
            <a:endParaRPr lang="en-US" sz="1300" dirty="0"/>
          </a:p>
        </p:txBody>
      </p:sp>
      <p:sp>
        <p:nvSpPr>
          <p:cNvPr id="27" name="Card 5 text"/>
          <p:cNvSpPr txBox="1"/>
          <p:nvPr/>
        </p:nvSpPr>
        <p:spPr>
          <a:xfrm>
            <a:off x="731520" y="5460000"/>
            <a:ext cx="8211312" cy="78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250" dirty="0">
                <a:solidFill>
                  <a:srgbClr val="2626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‏אחסון ציוד בארמו"ן החטיבתי - נדרשים ארונות לאחסון הצלמ"ים </a:t>
            </a:r>
            <a:r>
              <a:rPr lang="en-US" sz="1250" dirty="0" err="1">
                <a:solidFill>
                  <a:srgbClr val="2626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והציוד</a:t>
            </a:r>
            <a:r>
              <a:rPr lang="en-US" sz="1250" dirty="0">
                <a:solidFill>
                  <a:srgbClr val="2626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</a:p>
          <a:p>
            <a:pPr marL="0" indent="0" algn="r" rtl="1">
              <a:buNone/>
            </a:pPr>
            <a:r>
              <a:rPr lang="en-US" sz="1250" b="1" dirty="0" err="1">
                <a:solidFill>
                  <a:srgbClr val="2626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השלמת</a:t>
            </a:r>
            <a:r>
              <a:rPr lang="en-US" sz="1250" b="1" dirty="0">
                <a:solidFill>
                  <a:srgbClr val="2626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ציוד מתקרית הפיצוץ.</a:t>
            </a:r>
            <a:endParaRPr lang="en-US" sz="1250" b="1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ערכת נושא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1643</TotalTime>
  <Words>996</Words>
  <Application>Microsoft Office PowerPoint</Application>
  <PresentationFormat>מסך רחב</PresentationFormat>
  <Paragraphs>243</Paragraphs>
  <Slides>6</Slides>
  <Notes>5</Notes>
  <HiddenSlides>0</HiddenSlides>
  <MMClips>0</MMClips>
  <ScaleCrop>false</ScaleCrop>
  <HeadingPairs>
    <vt:vector size="8" baseType="variant">
      <vt:variant>
        <vt:lpstr>גופנים בשימוש</vt:lpstr>
      </vt:variant>
      <vt:variant>
        <vt:i4>1</vt:i4>
      </vt:variant>
      <vt:variant>
        <vt:lpstr>ערכת נושא</vt:lpstr>
      </vt:variant>
      <vt:variant>
        <vt:i4>1</vt:i4>
      </vt:variant>
      <vt:variant>
        <vt:lpstr>שרתי OLE מוטבעים</vt:lpstr>
      </vt:variant>
      <vt:variant>
        <vt:i4>1</vt:i4>
      </vt:variant>
      <vt:variant>
        <vt:lpstr>כותרות שקופיות</vt:lpstr>
      </vt:variant>
      <vt:variant>
        <vt:i4>6</vt:i4>
      </vt:variant>
    </vt:vector>
  </HeadingPairs>
  <TitlesOfParts>
    <vt:vector size="9" baseType="lpstr">
      <vt:lpstr>Arial</vt:lpstr>
      <vt:lpstr>Office Theme</vt:lpstr>
      <vt:lpstr>Worksheet</vt:lpstr>
      <vt:lpstr>מצגת של PowerPoint‏</vt:lpstr>
      <vt:lpstr>מצגת של PowerPoint‏</vt:lpstr>
      <vt:lpstr>מצגת של PowerPoint‏</vt:lpstr>
      <vt:lpstr>מצגת של PowerPoint‏</vt:lpstr>
      <vt:lpstr>מצגת של PowerPoint‏</vt:lpstr>
      <vt:lpstr>מצגת של PowerPoint‏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איתי עוזיאל</cp:lastModifiedBy>
  <cp:revision>9</cp:revision>
  <cp:lastPrinted>2026-09-06T07:01:29Z</cp:lastPrinted>
  <dcterms:created xsi:type="dcterms:W3CDTF">2026-08-26T20:36:38Z</dcterms:created>
  <dcterms:modified xsi:type="dcterms:W3CDTF">2026-09-19T12:24:46Z</dcterms:modified>
</cp:coreProperties>
</file>