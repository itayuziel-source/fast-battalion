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1945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גאנט ירידה וחזרה לכשירות — לוח שנה</a:t>
            </a:r>
            <a:endParaRPr lang="he-IL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 לכל שבוע | </a:t>
            </a:r>
            <a:pPr algn="r" indent="0" marL="0">
              <a:buNone/>
            </a:pPr>
            <a:r>
              <a:rPr lang="he-IL" altLang="en-US" sz="1250" b="1" dirty="0">
                <a:solidFill>
                  <a:srgbClr val="9F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באדום — הורדת רכבים והובלות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716768" y="11887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</a:t>
            </a:r>
            <a:endParaRPr lang="he-IL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74045" y="1188720"/>
            <a:ext cx="14604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א'</a:t>
            </a:r>
            <a:endParaRPr lang="he-IL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13617" y="1188720"/>
            <a:ext cx="14604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ב'</a:t>
            </a:r>
            <a:endParaRPr lang="he-IL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53190" y="1188720"/>
            <a:ext cx="14604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ג'</a:t>
            </a:r>
            <a:endParaRPr lang="he-IL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92762" y="1188720"/>
            <a:ext cx="14604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ד'</a:t>
            </a:r>
            <a:endParaRPr lang="he-IL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332335" y="1188720"/>
            <a:ext cx="14604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ה'</a:t>
            </a:r>
            <a:endParaRPr lang="he-IL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71907" y="1188720"/>
            <a:ext cx="14604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ו'</a:t>
            </a:r>
            <a:endParaRPr lang="he-IL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1188720"/>
            <a:ext cx="14604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ש'</a:t>
            </a:r>
            <a:endParaRPr lang="he-IL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1499616"/>
            <a:ext cx="10222992" cy="950976"/>
          </a:xfrm>
          <a:prstGeom prst="rect">
            <a:avLst/>
          </a:prstGeom>
          <a:solidFill>
            <a:srgbClr val="F4F2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871907" y="1499616"/>
            <a:ext cx="1460427" cy="9509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1499616"/>
            <a:ext cx="1460427" cy="9509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8" name="Shape 16"/>
          <p:cNvSpPr/>
          <p:nvPr/>
        </p:nvSpPr>
        <p:spPr>
          <a:xfrm>
            <a:off x="9174045" y="149961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3617" y="149961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3190" y="149961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2762" y="149961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2335" y="149961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1907" y="149961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10621" y="151333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</a:t>
            </a:r>
            <a:endParaRPr lang="en-US" sz="650" dirty="0"/>
          </a:p>
        </p:txBody>
      </p:sp>
      <p:sp>
        <p:nvSpPr>
          <p:cNvPr id="25" name="Text 23"/>
          <p:cNvSpPr txBox="1"/>
          <p:nvPr/>
        </p:nvSpPr>
        <p:spPr>
          <a:xfrm>
            <a:off x="7750193" y="151333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6289766" y="151333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4829338" y="151333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</a:t>
            </a:r>
            <a:endParaRPr lang="en-US" sz="650" dirty="0"/>
          </a:p>
        </p:txBody>
      </p:sp>
      <p:sp>
        <p:nvSpPr>
          <p:cNvPr id="28" name="Text 26"/>
          <p:cNvSpPr txBox="1"/>
          <p:nvPr/>
        </p:nvSpPr>
        <p:spPr>
          <a:xfrm>
            <a:off x="3368911" y="151333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1908483" y="151333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</a:t>
            </a:r>
            <a:endParaRPr lang="en-US" sz="650" dirty="0"/>
          </a:p>
        </p:txBody>
      </p:sp>
      <p:sp>
        <p:nvSpPr>
          <p:cNvPr id="30" name="Text 28"/>
          <p:cNvSpPr txBox="1"/>
          <p:nvPr/>
        </p:nvSpPr>
        <p:spPr>
          <a:xfrm>
            <a:off x="448056" y="151333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" y="1632204"/>
            <a:ext cx="100766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דילול אמצעים — סד"כ חטיבתי חצוי | הישג נדרש: זיכוי חצי גדוד כולל מסדרים והורדת מכולות לליפקין</a:t>
            </a:r>
            <a:endParaRPr lang="he-IL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280622" y="1801368"/>
            <a:ext cx="1405563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 ספירת תיקים</a:t>
            </a:r>
            <a:endParaRPr lang="he-IL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3359767" y="1956816"/>
            <a:ext cx="2865991" cy="141732"/>
          </a:xfrm>
          <a:prstGeom prst="roundRect">
            <a:avLst>
              <a:gd name="adj" fmla="val 161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ניוד מכולות ורכבים לבילו + הובלת האמרים</a:t>
            </a:r>
            <a:endParaRPr lang="he-IL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3359767" y="2112264"/>
            <a:ext cx="1405563" cy="141732"/>
          </a:xfrm>
          <a:prstGeom prst="roundRect">
            <a:avLst>
              <a:gd name="adj" fmla="val 161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מכולות פלוגתיות</a:t>
            </a:r>
            <a:endParaRPr lang="he-IL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1899339" y="2267712"/>
            <a:ext cx="2865991" cy="141732"/>
          </a:xfrm>
          <a:prstGeom prst="roundRect">
            <a:avLst>
              <a:gd name="adj" fmla="val 161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הורדת נגררים לבילו</a:t>
            </a:r>
            <a:endParaRPr lang="he-IL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10716768" y="1719072"/>
            <a:ext cx="1060704" cy="512064"/>
          </a:xfrm>
          <a:prstGeom prst="roundRect">
            <a:avLst>
              <a:gd name="adj" fmla="val 89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38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13-19.9</a:t>
            </a:r>
            <a:endParaRPr lang="he-IL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2505456"/>
            <a:ext cx="10222992" cy="950976"/>
          </a:xfrm>
          <a:prstGeom prst="rect">
            <a:avLst/>
          </a:prstGeom>
          <a:solidFill>
            <a:srgbClr val="F4F2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71907" y="2505456"/>
            <a:ext cx="1460427" cy="9509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39" name="Shape 37"/>
          <p:cNvSpPr/>
          <p:nvPr/>
        </p:nvSpPr>
        <p:spPr>
          <a:xfrm>
            <a:off x="411480" y="2505456"/>
            <a:ext cx="1460427" cy="9509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40" name="Shape 38"/>
          <p:cNvSpPr/>
          <p:nvPr/>
        </p:nvSpPr>
        <p:spPr>
          <a:xfrm>
            <a:off x="9174045" y="250545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13617" y="250545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53190" y="250545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92762" y="250545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32335" y="250545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1907" y="250545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10621" y="251917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</a:t>
            </a:r>
            <a:endParaRPr lang="en-US" sz="650" dirty="0"/>
          </a:p>
        </p:txBody>
      </p:sp>
      <p:sp>
        <p:nvSpPr>
          <p:cNvPr id="47" name="Text 45"/>
          <p:cNvSpPr txBox="1"/>
          <p:nvPr/>
        </p:nvSpPr>
        <p:spPr>
          <a:xfrm>
            <a:off x="7750193" y="251917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</a:t>
            </a:r>
            <a:endParaRPr lang="en-US" sz="650" dirty="0"/>
          </a:p>
        </p:txBody>
      </p:sp>
      <p:sp>
        <p:nvSpPr>
          <p:cNvPr id="48" name="Text 46"/>
          <p:cNvSpPr txBox="1"/>
          <p:nvPr/>
        </p:nvSpPr>
        <p:spPr>
          <a:xfrm>
            <a:off x="6289766" y="251917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</a:t>
            </a:r>
            <a:endParaRPr lang="en-US" sz="650" dirty="0"/>
          </a:p>
        </p:txBody>
      </p:sp>
      <p:sp>
        <p:nvSpPr>
          <p:cNvPr id="49" name="Text 47"/>
          <p:cNvSpPr txBox="1"/>
          <p:nvPr/>
        </p:nvSpPr>
        <p:spPr>
          <a:xfrm>
            <a:off x="4829338" y="251917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23.9</a:t>
            </a:r>
            <a:endParaRPr lang="en-US" sz="650" dirty="0"/>
          </a:p>
        </p:txBody>
      </p:sp>
      <p:sp>
        <p:nvSpPr>
          <p:cNvPr id="50" name="Text 48"/>
          <p:cNvSpPr txBox="1"/>
          <p:nvPr/>
        </p:nvSpPr>
        <p:spPr>
          <a:xfrm>
            <a:off x="3368911" y="251917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1908483" y="251917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</a:t>
            </a:r>
            <a:endParaRPr lang="en-US" sz="650" dirty="0"/>
          </a:p>
        </p:txBody>
      </p:sp>
      <p:sp>
        <p:nvSpPr>
          <p:cNvPr id="52" name="Text 50"/>
          <p:cNvSpPr txBox="1"/>
          <p:nvPr/>
        </p:nvSpPr>
        <p:spPr>
          <a:xfrm>
            <a:off x="448056" y="251917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</a:t>
            </a:r>
            <a:endParaRPr lang="en-US" sz="650" dirty="0"/>
          </a:p>
        </p:txBody>
      </p:sp>
      <p:sp>
        <p:nvSpPr>
          <p:cNvPr id="53" name="Text 51"/>
          <p:cNvSpPr txBox="1"/>
          <p:nvPr/>
        </p:nvSpPr>
        <p:spPr>
          <a:xfrm>
            <a:off x="484632" y="2638044"/>
            <a:ext cx="100766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הירידה מתע"מ — זיכוי מלא וקיפול חצרות יסף | הישג נדרש: חצרות יסף ירוק בעיניים לכלל הצל"מ והציוד הגדודי</a:t>
            </a:r>
            <a:endParaRPr lang="he-IL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7741049" y="2807208"/>
            <a:ext cx="2865991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סיום זיכוי כרטיסי דלק 91 צפון</a:t>
            </a:r>
            <a:endParaRPr lang="he-IL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4820194" y="2807208"/>
            <a:ext cx="1405563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ירוק על כלל הצל"מ</a:t>
            </a:r>
            <a:endParaRPr lang="he-IL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3359767" y="2807208"/>
            <a:ext cx="1405563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 מח"ט</a:t>
            </a:r>
            <a:endParaRPr lang="he-IL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4820194" y="2962656"/>
            <a:ext cx="2865991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הגדוד וקיפול חצרות יסף</a:t>
            </a:r>
            <a:endParaRPr lang="he-IL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6280622" y="3118104"/>
            <a:ext cx="1405563" cy="141732"/>
          </a:xfrm>
          <a:prstGeom prst="roundRect">
            <a:avLst>
              <a:gd name="adj" fmla="val 161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האמרים + 4 FMTV</a:t>
            </a:r>
            <a:endParaRPr lang="he-IL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4820194" y="3118104"/>
            <a:ext cx="1405563" cy="141732"/>
          </a:xfrm>
          <a:prstGeom prst="roundRect">
            <a:avLst>
              <a:gd name="adj" fmla="val 161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האמרים ע"ג 10 פלטות</a:t>
            </a:r>
            <a:endParaRPr lang="he-IL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4820194" y="3273552"/>
            <a:ext cx="2865991" cy="141732"/>
          </a:xfrm>
          <a:prstGeom prst="roundRect">
            <a:avLst>
              <a:gd name="adj" fmla="val 161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מכולת תחמושת ומלגזה | משאיות בנסיעה</a:t>
            </a:r>
            <a:endParaRPr lang="he-IL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10716768" y="2724912"/>
            <a:ext cx="1060704" cy="512064"/>
          </a:xfrm>
          <a:prstGeom prst="roundRect">
            <a:avLst>
              <a:gd name="adj" fmla="val 89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39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20-26.9</a:t>
            </a:r>
            <a:endParaRPr lang="he-IL" sz="1100" dirty="0"/>
          </a:p>
        </p:txBody>
      </p:sp>
      <p:sp>
        <p:nvSpPr>
          <p:cNvPr id="62" name="Shape 60"/>
          <p:cNvSpPr/>
          <p:nvPr/>
        </p:nvSpPr>
        <p:spPr>
          <a:xfrm>
            <a:off x="411480" y="3511296"/>
            <a:ext cx="10222992" cy="950976"/>
          </a:xfrm>
          <a:prstGeom prst="rect">
            <a:avLst/>
          </a:prstGeom>
          <a:solidFill>
            <a:srgbClr val="FAF3E0"/>
          </a:solidFill>
          <a:ln/>
        </p:spPr>
      </p:sp>
      <p:sp>
        <p:nvSpPr>
          <p:cNvPr id="63" name="Shape 61"/>
          <p:cNvSpPr/>
          <p:nvPr/>
        </p:nvSpPr>
        <p:spPr>
          <a:xfrm>
            <a:off x="9174045" y="351129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13617" y="351129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53190" y="351129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92762" y="351129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32335" y="351129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71907" y="351129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210621" y="352501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</a:t>
            </a:r>
            <a:endParaRPr lang="en-US" sz="650" dirty="0"/>
          </a:p>
        </p:txBody>
      </p:sp>
      <p:sp>
        <p:nvSpPr>
          <p:cNvPr id="70" name="Text 68"/>
          <p:cNvSpPr txBox="1"/>
          <p:nvPr/>
        </p:nvSpPr>
        <p:spPr>
          <a:xfrm>
            <a:off x="7750193" y="352501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</a:t>
            </a:r>
            <a:endParaRPr lang="en-US" sz="650" dirty="0"/>
          </a:p>
        </p:txBody>
      </p:sp>
      <p:sp>
        <p:nvSpPr>
          <p:cNvPr id="71" name="Text 69"/>
          <p:cNvSpPr txBox="1"/>
          <p:nvPr/>
        </p:nvSpPr>
        <p:spPr>
          <a:xfrm>
            <a:off x="6289766" y="352501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29.9</a:t>
            </a:r>
            <a:endParaRPr lang="en-US" sz="650" dirty="0"/>
          </a:p>
        </p:txBody>
      </p:sp>
      <p:sp>
        <p:nvSpPr>
          <p:cNvPr id="72" name="Text 70"/>
          <p:cNvSpPr txBox="1"/>
          <p:nvPr/>
        </p:nvSpPr>
        <p:spPr>
          <a:xfrm>
            <a:off x="4829338" y="352501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3368911" y="352501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</a:t>
            </a:r>
            <a:endParaRPr lang="en-US" sz="650" dirty="0"/>
          </a:p>
        </p:txBody>
      </p:sp>
      <p:sp>
        <p:nvSpPr>
          <p:cNvPr id="74" name="Text 72"/>
          <p:cNvSpPr txBox="1"/>
          <p:nvPr/>
        </p:nvSpPr>
        <p:spPr>
          <a:xfrm>
            <a:off x="1908483" y="352501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</a:t>
            </a:r>
            <a:endParaRPr lang="en-US" sz="650" dirty="0"/>
          </a:p>
        </p:txBody>
      </p:sp>
      <p:sp>
        <p:nvSpPr>
          <p:cNvPr id="75" name="Text 73"/>
          <p:cNvSpPr txBox="1"/>
          <p:nvPr/>
        </p:nvSpPr>
        <p:spPr>
          <a:xfrm>
            <a:off x="448056" y="352501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438912" y="3831336"/>
            <a:ext cx="10168128" cy="329184"/>
          </a:xfrm>
          <a:prstGeom prst="roundRect">
            <a:avLst>
              <a:gd name="adj" fmla="val 6944"/>
            </a:avLst>
          </a:prstGeom>
          <a:solidFill>
            <a:srgbClr val="575757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הדממת יחידות — חול המועד סוכות</a:t>
            </a:r>
            <a:endParaRPr lang="he-IL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10716768" y="3730752"/>
            <a:ext cx="1060704" cy="512064"/>
          </a:xfrm>
          <a:prstGeom prst="roundRect">
            <a:avLst>
              <a:gd name="adj" fmla="val 8929"/>
            </a:avLst>
          </a:prstGeom>
          <a:solidFill>
            <a:srgbClr val="5757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40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27.9-3.10</a:t>
            </a:r>
            <a:endParaRPr lang="he-IL" sz="1100" dirty="0"/>
          </a:p>
        </p:txBody>
      </p:sp>
      <p:sp>
        <p:nvSpPr>
          <p:cNvPr id="78" name="Shape 76"/>
          <p:cNvSpPr/>
          <p:nvPr/>
        </p:nvSpPr>
        <p:spPr>
          <a:xfrm>
            <a:off x="411480" y="4517136"/>
            <a:ext cx="10222992" cy="950976"/>
          </a:xfrm>
          <a:prstGeom prst="rect">
            <a:avLst/>
          </a:prstGeom>
          <a:solidFill>
            <a:srgbClr val="F4F2F0"/>
          </a:solidFill>
          <a:ln/>
        </p:spPr>
      </p:sp>
      <p:sp>
        <p:nvSpPr>
          <p:cNvPr id="79" name="Shape 77"/>
          <p:cNvSpPr/>
          <p:nvPr/>
        </p:nvSpPr>
        <p:spPr>
          <a:xfrm>
            <a:off x="1871907" y="4517136"/>
            <a:ext cx="1460427" cy="9509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480" y="4517136"/>
            <a:ext cx="1460427" cy="9509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81" name="Shape 79"/>
          <p:cNvSpPr/>
          <p:nvPr/>
        </p:nvSpPr>
        <p:spPr>
          <a:xfrm>
            <a:off x="9174045" y="451713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13617" y="451713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53190" y="451713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92762" y="451713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332335" y="451713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71907" y="451713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210621" y="453085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650" dirty="0"/>
          </a:p>
        </p:txBody>
      </p:sp>
      <p:sp>
        <p:nvSpPr>
          <p:cNvPr id="88" name="Text 86"/>
          <p:cNvSpPr txBox="1"/>
          <p:nvPr/>
        </p:nvSpPr>
        <p:spPr>
          <a:xfrm>
            <a:off x="7750193" y="453085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6289766" y="453085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6.10</a:t>
            </a:r>
            <a:endParaRPr lang="en-US" sz="650" dirty="0"/>
          </a:p>
        </p:txBody>
      </p:sp>
      <p:sp>
        <p:nvSpPr>
          <p:cNvPr id="90" name="Text 88"/>
          <p:cNvSpPr txBox="1"/>
          <p:nvPr/>
        </p:nvSpPr>
        <p:spPr>
          <a:xfrm>
            <a:off x="4829338" y="453085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7.10</a:t>
            </a:r>
            <a:endParaRPr lang="en-US" sz="650" dirty="0"/>
          </a:p>
        </p:txBody>
      </p:sp>
      <p:sp>
        <p:nvSpPr>
          <p:cNvPr id="91" name="Text 89"/>
          <p:cNvSpPr txBox="1"/>
          <p:nvPr/>
        </p:nvSpPr>
        <p:spPr>
          <a:xfrm>
            <a:off x="3368911" y="453085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8.10</a:t>
            </a:r>
            <a:endParaRPr lang="en-US" sz="650" dirty="0"/>
          </a:p>
        </p:txBody>
      </p:sp>
      <p:sp>
        <p:nvSpPr>
          <p:cNvPr id="92" name="Text 90"/>
          <p:cNvSpPr txBox="1"/>
          <p:nvPr/>
        </p:nvSpPr>
        <p:spPr>
          <a:xfrm>
            <a:off x="1908483" y="453085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9.10</a:t>
            </a:r>
            <a:endParaRPr lang="en-US" sz="650" dirty="0"/>
          </a:p>
        </p:txBody>
      </p:sp>
      <p:sp>
        <p:nvSpPr>
          <p:cNvPr id="93" name="Text 91"/>
          <p:cNvSpPr txBox="1"/>
          <p:nvPr/>
        </p:nvSpPr>
        <p:spPr>
          <a:xfrm>
            <a:off x="448056" y="453085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</a:t>
            </a:r>
            <a:endParaRPr lang="en-US" sz="650" dirty="0"/>
          </a:p>
        </p:txBody>
      </p:sp>
      <p:sp>
        <p:nvSpPr>
          <p:cNvPr id="94" name="Text 92"/>
          <p:cNvSpPr txBox="1"/>
          <p:nvPr/>
        </p:nvSpPr>
        <p:spPr>
          <a:xfrm>
            <a:off x="484632" y="4649724"/>
            <a:ext cx="100766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 עיבוד וסיום מסדרים פלוגתיים | הישג נדרש: סיום מסדרים פלוגתיים ובחינות נשקים ואופטיקה</a:t>
            </a:r>
            <a:endParaRPr lang="he-IL" sz="800" dirty="0"/>
          </a:p>
        </p:txBody>
      </p:sp>
      <p:sp>
        <p:nvSpPr>
          <p:cNvPr id="95" name="Text 93"/>
          <p:cNvSpPr txBox="1"/>
          <p:nvPr/>
        </p:nvSpPr>
        <p:spPr>
          <a:xfrm>
            <a:off x="3359767" y="4818888"/>
            <a:ext cx="7247273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ספירת תיקים ומסדר מ"פ לפי פלוגה</a:t>
            </a:r>
            <a:endParaRPr lang="he-IL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3359767" y="4974336"/>
            <a:ext cx="7247273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בחינות נשק — לירן חימוש אוגדה</a:t>
            </a:r>
            <a:endParaRPr lang="he-IL" sz="700" dirty="0"/>
          </a:p>
        </p:txBody>
      </p:sp>
      <p:sp>
        <p:nvSpPr>
          <p:cNvPr id="97" name="Text 95"/>
          <p:cNvSpPr txBox="1"/>
          <p:nvPr/>
        </p:nvSpPr>
        <p:spPr>
          <a:xfrm>
            <a:off x="3359767" y="5129784"/>
            <a:ext cx="4326418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סיום סידור מכולות פלוגתיות</a:t>
            </a:r>
            <a:endParaRPr lang="he-IL" sz="700" dirty="0"/>
          </a:p>
        </p:txBody>
      </p:sp>
      <p:sp>
        <p:nvSpPr>
          <p:cNvPr id="98" name="Text 96"/>
          <p:cNvSpPr txBox="1"/>
          <p:nvPr/>
        </p:nvSpPr>
        <p:spPr>
          <a:xfrm>
            <a:off x="3359767" y="5285232"/>
            <a:ext cx="2865991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הכנה לשבוע חזרה לכשירות גדודי</a:t>
            </a:r>
            <a:endParaRPr lang="he-IL" sz="700" dirty="0"/>
          </a:p>
        </p:txBody>
      </p:sp>
      <p:sp>
        <p:nvSpPr>
          <p:cNvPr id="99" name="Text 97"/>
          <p:cNvSpPr txBox="1"/>
          <p:nvPr/>
        </p:nvSpPr>
        <p:spPr>
          <a:xfrm>
            <a:off x="10716768" y="4736592"/>
            <a:ext cx="1060704" cy="512064"/>
          </a:xfrm>
          <a:prstGeom prst="roundRect">
            <a:avLst>
              <a:gd name="adj" fmla="val 89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41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4-10.10</a:t>
            </a:r>
            <a:endParaRPr lang="he-IL" sz="1100" dirty="0"/>
          </a:p>
        </p:txBody>
      </p:sp>
      <p:sp>
        <p:nvSpPr>
          <p:cNvPr id="100" name="Shape 98"/>
          <p:cNvSpPr/>
          <p:nvPr/>
        </p:nvSpPr>
        <p:spPr>
          <a:xfrm>
            <a:off x="411480" y="5522976"/>
            <a:ext cx="10222992" cy="950976"/>
          </a:xfrm>
          <a:prstGeom prst="rect">
            <a:avLst/>
          </a:prstGeom>
          <a:solidFill>
            <a:srgbClr val="F4F2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1871907" y="5522976"/>
            <a:ext cx="1460427" cy="9509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11480" y="5522976"/>
            <a:ext cx="1460427" cy="9509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174045" y="552297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713617" y="552297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53190" y="552297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92762" y="552297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332335" y="552297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871907" y="5522976"/>
            <a:ext cx="0" cy="9509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210621" y="553669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11.10</a:t>
            </a:r>
            <a:endParaRPr lang="en-US" sz="650" dirty="0"/>
          </a:p>
        </p:txBody>
      </p:sp>
      <p:sp>
        <p:nvSpPr>
          <p:cNvPr id="110" name="Text 108"/>
          <p:cNvSpPr txBox="1"/>
          <p:nvPr/>
        </p:nvSpPr>
        <p:spPr>
          <a:xfrm>
            <a:off x="7750193" y="553669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12.10</a:t>
            </a:r>
            <a:endParaRPr lang="en-US" sz="650" dirty="0"/>
          </a:p>
        </p:txBody>
      </p:sp>
      <p:sp>
        <p:nvSpPr>
          <p:cNvPr id="111" name="Text 109"/>
          <p:cNvSpPr txBox="1"/>
          <p:nvPr/>
        </p:nvSpPr>
        <p:spPr>
          <a:xfrm>
            <a:off x="6289766" y="553669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13.10</a:t>
            </a:r>
            <a:endParaRPr lang="en-US" sz="650" dirty="0"/>
          </a:p>
        </p:txBody>
      </p:sp>
      <p:sp>
        <p:nvSpPr>
          <p:cNvPr id="112" name="Text 110"/>
          <p:cNvSpPr txBox="1"/>
          <p:nvPr/>
        </p:nvSpPr>
        <p:spPr>
          <a:xfrm>
            <a:off x="4829338" y="553669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14.10</a:t>
            </a:r>
            <a:endParaRPr lang="en-US" sz="650" dirty="0"/>
          </a:p>
        </p:txBody>
      </p:sp>
      <p:sp>
        <p:nvSpPr>
          <p:cNvPr id="113" name="Text 111"/>
          <p:cNvSpPr txBox="1"/>
          <p:nvPr/>
        </p:nvSpPr>
        <p:spPr>
          <a:xfrm>
            <a:off x="3368911" y="553669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15.10</a:t>
            </a:r>
            <a:endParaRPr lang="en-US" sz="650" dirty="0"/>
          </a:p>
        </p:txBody>
      </p:sp>
      <p:sp>
        <p:nvSpPr>
          <p:cNvPr id="114" name="Text 112"/>
          <p:cNvSpPr txBox="1"/>
          <p:nvPr/>
        </p:nvSpPr>
        <p:spPr>
          <a:xfrm>
            <a:off x="1908483" y="553669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16.10</a:t>
            </a:r>
            <a:endParaRPr lang="en-US" sz="650" dirty="0"/>
          </a:p>
        </p:txBody>
      </p:sp>
      <p:sp>
        <p:nvSpPr>
          <p:cNvPr id="115" name="Text 113"/>
          <p:cNvSpPr txBox="1"/>
          <p:nvPr/>
        </p:nvSpPr>
        <p:spPr>
          <a:xfrm>
            <a:off x="448056" y="5536692"/>
            <a:ext cx="1387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17.10</a:t>
            </a:r>
            <a:endParaRPr lang="en-US" sz="650" dirty="0"/>
          </a:p>
        </p:txBody>
      </p:sp>
      <p:sp>
        <p:nvSpPr>
          <p:cNvPr id="116" name="Text 114"/>
          <p:cNvSpPr txBox="1"/>
          <p:nvPr/>
        </p:nvSpPr>
        <p:spPr>
          <a:xfrm>
            <a:off x="484632" y="5655564"/>
            <a:ext cx="100766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חזרה לכשירות גדודי — פוקוס חטיבתי | הישג נדרש: כלל האמצעים מזוכים ומאופסנים, בונקר גדודי ספור ומשולט, הגדוד ערוך למעבר לכוננות גדוד מהיר</a:t>
            </a:r>
            <a:endParaRPr lang="he-IL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4820194" y="5824728"/>
            <a:ext cx="5786846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סידור וארגון הימ"ח | ארגון חדר יוקרה — גנרטורים וציוד צבאי</a:t>
            </a:r>
            <a:endParaRPr lang="he-IL" sz="700" dirty="0"/>
          </a:p>
        </p:txBody>
      </p:sp>
      <p:sp>
        <p:nvSpPr>
          <p:cNvPr id="118" name="Text 116"/>
          <p:cNvSpPr txBox="1"/>
          <p:nvPr/>
        </p:nvSpPr>
        <p:spPr>
          <a:xfrm>
            <a:off x="4820194" y="5980176"/>
            <a:ext cx="5786846" cy="141732"/>
          </a:xfrm>
          <a:prstGeom prst="roundRect">
            <a:avLst>
              <a:gd name="adj" fmla="val 16129"/>
            </a:avLst>
          </a:prstGeom>
          <a:solidFill>
            <a:srgbClr val="DEDAD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רענון ציוד אמסל"ח | סידור מחסן תקשוב</a:t>
            </a:r>
            <a:endParaRPr lang="he-IL" sz="700" dirty="0"/>
          </a:p>
        </p:txBody>
      </p:sp>
      <p:sp>
        <p:nvSpPr>
          <p:cNvPr id="119" name="Text 117"/>
          <p:cNvSpPr txBox="1"/>
          <p:nvPr/>
        </p:nvSpPr>
        <p:spPr>
          <a:xfrm>
            <a:off x="3359767" y="6135624"/>
            <a:ext cx="1405563" cy="141732"/>
          </a:xfrm>
          <a:prstGeom prst="roundRect">
            <a:avLst>
              <a:gd name="adj" fmla="val 161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 מח"ט וסיום ימ"ח</a:t>
            </a:r>
            <a:endParaRPr lang="he-IL" sz="700" dirty="0"/>
          </a:p>
        </p:txBody>
      </p:sp>
      <p:sp>
        <p:nvSpPr>
          <p:cNvPr id="120" name="Text 118"/>
          <p:cNvSpPr txBox="1"/>
          <p:nvPr/>
        </p:nvSpPr>
        <p:spPr>
          <a:xfrm>
            <a:off x="10716768" y="5742432"/>
            <a:ext cx="1060704" cy="512064"/>
          </a:xfrm>
          <a:prstGeom prst="roundRect">
            <a:avLst>
              <a:gd name="adj" fmla="val 8929"/>
            </a:avLst>
          </a:prstGeom>
          <a:solidFill>
            <a:srgbClr val="9F22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42</a:t>
            </a:r>
            <a:endParaRPr lang="he-IL" sz="1100" dirty="0"/>
          </a:p>
          <a:p>
            <a:pPr algn="ctr" indent="0" marL="0">
              <a:buNone/>
            </a:pPr>
            <a:r>
              <a:rPr lang="he-IL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11-17.10</a:t>
            </a:r>
            <a:endParaRPr lang="he-IL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2026-09-19T12:10:01Z</dcterms:created>
  <dcterms:modified xsi:type="dcterms:W3CDTF">2026-09-19T12:10:01Z</dcterms:modified>
</cp:coreProperties>
</file>